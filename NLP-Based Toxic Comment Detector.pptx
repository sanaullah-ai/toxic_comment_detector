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6256000" cy="9144000"/>
  <p:notesSz cx="9144000" cy="16256000"/>
  <p:embeddedFontLst>
    <p:embeddedFont>
      <p:font typeface="Quattrocento Sans" charset="-122" pitchFamily="34"/>
      <p:regular r:id="rId21"/>
    </p:embeddedFont>
    <p:embeddedFont>
      <p:font typeface="Unna" charset="-122" pitchFamily="3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font" Target="fonts/font1.fntdata"/><Relationship Id="rId2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dxv4hoehigcay/mnt/agents/output/toxic-comment-detector/images/1_Abstract_Digital_Network_Grid_With.png">    </p:cNvPr>
          <p:cNvPicPr>
            <a:picLocks noChangeAspect="1"/>
          </p:cNvPicPr>
          <p:nvPr/>
        </p:nvPicPr>
        <p:blipFill>
          <a:blip r:embed="rId1"/>
          <a:srcRect l="1481" r="1481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270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4C5C">
                  <a:alpha val="90000"/>
                </a:srgbClr>
              </a:gs>
              <a:gs pos="50000">
                <a:srgbClr val="0F4C5C">
                  <a:alpha val="80000"/>
                </a:srgbClr>
              </a:gs>
              <a:gs pos="100000">
                <a:srgbClr val="0F4C5C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048000" y="24765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spc="4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NLP COURSE PROJECT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858000" y="3048000"/>
            <a:ext cx="2540000" cy="25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3"/>
          <p:cNvSpPr/>
          <p:nvPr/>
        </p:nvSpPr>
        <p:spPr>
          <a:xfrm>
            <a:off x="1778000" y="3365500"/>
            <a:ext cx="1270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600" b="1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Toxic Comment Detector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048000" y="5207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Real-Time Content Moderation System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0" y="5969000"/>
            <a:ext cx="2540000" cy="25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6"/>
          <p:cNvSpPr/>
          <p:nvPr/>
        </p:nvSpPr>
        <p:spPr>
          <a:xfrm>
            <a:off x="3683000" y="6350000"/>
            <a:ext cx="889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5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Sanaullah · Fasil Nawaz · Kh Toseeq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5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Course: NLP Project | Instructor: Sir Muhammad Farhan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3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10414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8034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286000"/>
            <a:ext cx="7175500" cy="2921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540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0F4C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3429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&amp;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3937000"/>
            <a:ext cx="635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toxic content challenge, current moderation limitations, and project goals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18500" y="2286000"/>
            <a:ext cx="7175500" cy="2921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8699500" y="2540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0F4C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99500" y="34290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Literature &amp; Methodology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99500" y="3937000"/>
            <a:ext cx="635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BERT transformer architecture, attention mechanisms, and system design approach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524500"/>
            <a:ext cx="7175500" cy="2921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57785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0F4C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6667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7175500"/>
            <a:ext cx="635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 preprocessing pipeline, API development, and frontend UI/UX design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18500" y="5524500"/>
            <a:ext cx="7175500" cy="2921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8699500" y="57785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0F4C5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99500" y="66675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99500" y="7175500"/>
            <a:ext cx="635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outcomes, key achievements, and future improvement directions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dxv4hoehigcay/mnt/agents/output/toxic-comment-detector/images/8_Abstract_digital_network_background.png">    </p:cNvPr>
          <p:cNvPicPr>
            <a:picLocks noChangeAspect="1"/>
          </p:cNvPicPr>
          <p:nvPr/>
        </p:nvPicPr>
        <p:blipFill>
          <a:blip r:embed="rId1"/>
          <a:srcRect l="0" r="0" t="821" b="82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4C5C">
                  <a:alpha val="95000"/>
                </a:srgbClr>
              </a:gs>
              <a:gs pos="55000">
                <a:srgbClr val="0F4C5C">
                  <a:alpha val="88000"/>
                </a:srgbClr>
              </a:gs>
              <a:gs pos="100000">
                <a:srgbClr val="0F4C5C">
                  <a:alpha val="6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286000"/>
            <a:ext cx="381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FFFFFF">
                    <a:alpha val="12549"/>
                  </a:srgbClr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16000" y="4064000"/>
            <a:ext cx="101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43815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&amp; Problem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5143500"/>
            <a:ext cx="698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toxic content challenge and project goals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&amp; Problem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397000" y="469900"/>
            <a:ext cx="127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&amp; 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Toxic Content Challenge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62000" y="13081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524000"/>
            <a:ext cx="7112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Online platforms face 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growing crisis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toxic user-generated content. Harassment and hate speech degrade user experience and cause real psychological harm.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2000" y="2768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Approach Limitations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200400"/>
          <a:ext cx="7112000" cy="3556000"/>
        </p:xfrm>
        <a:graphic>
          <a:graphicData uri="http://schemas.openxmlformats.org/drawingml/2006/table">
            <a:tbl>
              <a:tblPr/>
              <a:tblGrid>
                <a:gridCol w="2275840"/>
                <a:gridCol w="4836160"/>
              </a:tblGrid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Approach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Limitations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Manual Moderation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Cannot scale, inconsistent, psychologically damaging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Keyword Filtering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Easily bypassed, lacks context understanding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Simple ML Models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Poor accuracy on nuanced content, high false positives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Community Reporting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Reactive, requires user reports, content stays up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762000" y="6985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Need for NLP Solution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62000" y="7416800"/>
            <a:ext cx="7112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BERT-based transformer models offer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scalable, accurate, real-time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detection of multiple toxic content forms with confidence scores.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382000" y="1524000"/>
            <a:ext cx="7112000" cy="7112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16" name="Shape 13"/>
          <p:cNvSpPr/>
          <p:nvPr/>
        </p:nvSpPr>
        <p:spPr>
          <a:xfrm>
            <a:off x="11633200" y="1968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cubicBezTo>
                  <a:pt x="310277" y="0"/>
                  <a:pt x="315754" y="1191"/>
                  <a:pt x="320754" y="3453"/>
                </a:cubicBezTo>
                <a:lnTo>
                  <a:pt x="545068" y="98584"/>
                </a:lnTo>
                <a:cubicBezTo>
                  <a:pt x="571262" y="109657"/>
                  <a:pt x="590788" y="135493"/>
                  <a:pt x="590669" y="166688"/>
                </a:cubicBezTo>
                <a:cubicBezTo>
                  <a:pt x="590074" y="284797"/>
                  <a:pt x="541496" y="500896"/>
                  <a:pt x="336352" y="599123"/>
                </a:cubicBezTo>
                <a:cubicBezTo>
                  <a:pt x="316468" y="608647"/>
                  <a:pt x="293370" y="608647"/>
                  <a:pt x="273487" y="599123"/>
                </a:cubicBezTo>
                <a:cubicBezTo>
                  <a:pt x="68223" y="500896"/>
                  <a:pt x="19764" y="284797"/>
                  <a:pt x="19169" y="166688"/>
                </a:cubicBezTo>
                <a:cubicBezTo>
                  <a:pt x="19050" y="135493"/>
                  <a:pt x="38576" y="109657"/>
                  <a:pt x="64770" y="98584"/>
                </a:cubicBezTo>
                <a:lnTo>
                  <a:pt x="288965" y="3453"/>
                </a:lnTo>
                <a:cubicBezTo>
                  <a:pt x="293965" y="1191"/>
                  <a:pt x="299323" y="0"/>
                  <a:pt x="304800" y="0"/>
                </a:cubicBezTo>
                <a:close/>
                <a:moveTo>
                  <a:pt x="304800" y="79534"/>
                </a:moveTo>
                <a:lnTo>
                  <a:pt x="304800" y="529709"/>
                </a:lnTo>
                <a:cubicBezTo>
                  <a:pt x="469106" y="450175"/>
                  <a:pt x="513278" y="273963"/>
                  <a:pt x="514350" y="168473"/>
                </a:cubicBezTo>
                <a:lnTo>
                  <a:pt x="304800" y="79653"/>
                </a:lnTo>
                <a:lnTo>
                  <a:pt x="304800" y="79653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7" name="Text 14"/>
          <p:cNvSpPr/>
          <p:nvPr/>
        </p:nvSpPr>
        <p:spPr>
          <a:xfrm>
            <a:off x="8890000" y="27940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BERT for Toxicity Detection?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0541000" y="3302000"/>
            <a:ext cx="2794000" cy="254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9" name="Shape 16"/>
          <p:cNvSpPr/>
          <p:nvPr/>
        </p:nvSpPr>
        <p:spPr>
          <a:xfrm>
            <a:off x="8890000" y="361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3344" y="38894"/>
                </a:moveTo>
                <a:cubicBezTo>
                  <a:pt x="83344" y="17433"/>
                  <a:pt x="100776" y="0"/>
                  <a:pt x="122238" y="0"/>
                </a:cubicBezTo>
                <a:lnTo>
                  <a:pt x="138906" y="0"/>
                </a:lnTo>
                <a:cubicBezTo>
                  <a:pt x="151199" y="0"/>
                  <a:pt x="161131" y="9932"/>
                  <a:pt x="161131" y="22225"/>
                </a:cubicBezTo>
                <a:lnTo>
                  <a:pt x="161131" y="333375"/>
                </a:lnTo>
                <a:cubicBezTo>
                  <a:pt x="161131" y="345668"/>
                  <a:pt x="151199" y="355600"/>
                  <a:pt x="138906" y="355600"/>
                </a:cubicBezTo>
                <a:lnTo>
                  <a:pt x="116681" y="355600"/>
                </a:lnTo>
                <a:cubicBezTo>
                  <a:pt x="95984" y="355600"/>
                  <a:pt x="78551" y="341432"/>
                  <a:pt x="73620" y="322263"/>
                </a:cubicBezTo>
                <a:cubicBezTo>
                  <a:pt x="73134" y="322263"/>
                  <a:pt x="72717" y="322263"/>
                  <a:pt x="72231" y="322263"/>
                </a:cubicBezTo>
                <a:cubicBezTo>
                  <a:pt x="41533" y="322263"/>
                  <a:pt x="16669" y="297398"/>
                  <a:pt x="16669" y="266700"/>
                </a:cubicBezTo>
                <a:cubicBezTo>
                  <a:pt x="16669" y="254198"/>
                  <a:pt x="20836" y="242669"/>
                  <a:pt x="27781" y="233363"/>
                </a:cubicBezTo>
                <a:cubicBezTo>
                  <a:pt x="14307" y="223222"/>
                  <a:pt x="5556" y="207109"/>
                  <a:pt x="5556" y="188913"/>
                </a:cubicBezTo>
                <a:cubicBezTo>
                  <a:pt x="5556" y="167451"/>
                  <a:pt x="17780" y="148769"/>
                  <a:pt x="35560" y="139531"/>
                </a:cubicBezTo>
                <a:cubicBezTo>
                  <a:pt x="30629" y="131197"/>
                  <a:pt x="27781" y="121474"/>
                  <a:pt x="27781" y="111125"/>
                </a:cubicBezTo>
                <a:cubicBezTo>
                  <a:pt x="27781" y="80427"/>
                  <a:pt x="52645" y="55563"/>
                  <a:pt x="83344" y="55563"/>
                </a:cubicBezTo>
                <a:lnTo>
                  <a:pt x="83344" y="38894"/>
                </a:lnTo>
                <a:close/>
                <a:moveTo>
                  <a:pt x="272256" y="38894"/>
                </a:moveTo>
                <a:lnTo>
                  <a:pt x="272256" y="55563"/>
                </a:lnTo>
                <a:cubicBezTo>
                  <a:pt x="302955" y="55563"/>
                  <a:pt x="327819" y="80427"/>
                  <a:pt x="327819" y="111125"/>
                </a:cubicBezTo>
                <a:cubicBezTo>
                  <a:pt x="327819" y="121543"/>
                  <a:pt x="324971" y="131266"/>
                  <a:pt x="320040" y="139531"/>
                </a:cubicBezTo>
                <a:cubicBezTo>
                  <a:pt x="337889" y="148769"/>
                  <a:pt x="350044" y="167382"/>
                  <a:pt x="350044" y="188913"/>
                </a:cubicBezTo>
                <a:cubicBezTo>
                  <a:pt x="350044" y="207109"/>
                  <a:pt x="341293" y="223222"/>
                  <a:pt x="327819" y="233363"/>
                </a:cubicBezTo>
                <a:cubicBezTo>
                  <a:pt x="334764" y="242669"/>
                  <a:pt x="338931" y="254198"/>
                  <a:pt x="338931" y="266700"/>
                </a:cubicBezTo>
                <a:cubicBezTo>
                  <a:pt x="338931" y="297398"/>
                  <a:pt x="314067" y="322263"/>
                  <a:pt x="283369" y="322263"/>
                </a:cubicBezTo>
                <a:cubicBezTo>
                  <a:pt x="282883" y="322263"/>
                  <a:pt x="282466" y="322263"/>
                  <a:pt x="281980" y="322263"/>
                </a:cubicBezTo>
                <a:cubicBezTo>
                  <a:pt x="277049" y="341432"/>
                  <a:pt x="259616" y="355600"/>
                  <a:pt x="238919" y="355600"/>
                </a:cubicBezTo>
                <a:lnTo>
                  <a:pt x="216694" y="355600"/>
                </a:lnTo>
                <a:cubicBezTo>
                  <a:pt x="204401" y="355600"/>
                  <a:pt x="194469" y="345668"/>
                  <a:pt x="194469" y="333375"/>
                </a:cubicBezTo>
                <a:lnTo>
                  <a:pt x="194469" y="22225"/>
                </a:lnTo>
                <a:cubicBezTo>
                  <a:pt x="194469" y="9932"/>
                  <a:pt x="204401" y="0"/>
                  <a:pt x="216694" y="0"/>
                </a:cubicBezTo>
                <a:lnTo>
                  <a:pt x="233363" y="0"/>
                </a:lnTo>
                <a:cubicBezTo>
                  <a:pt x="254824" y="0"/>
                  <a:pt x="272256" y="17433"/>
                  <a:pt x="272256" y="38894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0" name="Text 17"/>
          <p:cNvSpPr/>
          <p:nvPr/>
        </p:nvSpPr>
        <p:spPr>
          <a:xfrm>
            <a:off x="9398000" y="3556000"/>
            <a:ext cx="558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Bidirectional Context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Understands text in both directions for nuanced meaning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912225" y="4635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2" name="Text 19"/>
          <p:cNvSpPr/>
          <p:nvPr/>
        </p:nvSpPr>
        <p:spPr>
          <a:xfrm>
            <a:off x="9398000" y="4572000"/>
            <a:ext cx="558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Processing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GPU-accelerated inference for instant moderation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890000" y="5651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4" name="Text 21"/>
          <p:cNvSpPr/>
          <p:nvPr/>
        </p:nvSpPr>
        <p:spPr>
          <a:xfrm>
            <a:off x="9398000" y="5588000"/>
            <a:ext cx="558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Accuracy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Outperforms LSTM models by 5-8% on toxicity benchmarks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890000" y="666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1479" y="3612"/>
                </a:moveTo>
                <a:cubicBezTo>
                  <a:pt x="171827" y="-1181"/>
                  <a:pt x="183773" y="-1181"/>
                  <a:pt x="194121" y="3612"/>
                </a:cubicBezTo>
                <a:lnTo>
                  <a:pt x="345946" y="73759"/>
                </a:lnTo>
                <a:cubicBezTo>
                  <a:pt x="351850" y="76468"/>
                  <a:pt x="355600" y="82371"/>
                  <a:pt x="355600" y="88900"/>
                </a:cubicBezTo>
                <a:cubicBezTo>
                  <a:pt x="355600" y="95429"/>
                  <a:pt x="351850" y="101332"/>
                  <a:pt x="345946" y="104041"/>
                </a:cubicBezTo>
                <a:lnTo>
                  <a:pt x="194121" y="174188"/>
                </a:lnTo>
                <a:cubicBezTo>
                  <a:pt x="183773" y="178981"/>
                  <a:pt x="171827" y="178981"/>
                  <a:pt x="161479" y="174188"/>
                </a:cubicBezTo>
                <a:lnTo>
                  <a:pt x="9654" y="104041"/>
                </a:lnTo>
                <a:cubicBezTo>
                  <a:pt x="3750" y="101263"/>
                  <a:pt x="0" y="95359"/>
                  <a:pt x="0" y="88900"/>
                </a:cubicBezTo>
                <a:cubicBezTo>
                  <a:pt x="0" y="82441"/>
                  <a:pt x="3750" y="76468"/>
                  <a:pt x="9654" y="73759"/>
                </a:cubicBezTo>
                <a:lnTo>
                  <a:pt x="161479" y="3612"/>
                </a:lnTo>
                <a:close/>
                <a:moveTo>
                  <a:pt x="33407" y="151686"/>
                </a:moveTo>
                <a:lnTo>
                  <a:pt x="147518" y="204401"/>
                </a:lnTo>
                <a:cubicBezTo>
                  <a:pt x="166757" y="213291"/>
                  <a:pt x="188913" y="213291"/>
                  <a:pt x="208151" y="204401"/>
                </a:cubicBezTo>
                <a:lnTo>
                  <a:pt x="322263" y="151686"/>
                </a:lnTo>
                <a:lnTo>
                  <a:pt x="345946" y="162659"/>
                </a:lnTo>
                <a:cubicBezTo>
                  <a:pt x="351850" y="165368"/>
                  <a:pt x="355600" y="171271"/>
                  <a:pt x="355600" y="177800"/>
                </a:cubicBezTo>
                <a:cubicBezTo>
                  <a:pt x="355600" y="184329"/>
                  <a:pt x="351850" y="190232"/>
                  <a:pt x="345946" y="192941"/>
                </a:cubicBezTo>
                <a:lnTo>
                  <a:pt x="194121" y="263088"/>
                </a:lnTo>
                <a:cubicBezTo>
                  <a:pt x="183773" y="267881"/>
                  <a:pt x="171827" y="267881"/>
                  <a:pt x="161479" y="263088"/>
                </a:cubicBezTo>
                <a:lnTo>
                  <a:pt x="9654" y="192941"/>
                </a:lnTo>
                <a:cubicBezTo>
                  <a:pt x="3750" y="190163"/>
                  <a:pt x="0" y="184259"/>
                  <a:pt x="0" y="177800"/>
                </a:cubicBezTo>
                <a:cubicBezTo>
                  <a:pt x="0" y="171341"/>
                  <a:pt x="3750" y="165368"/>
                  <a:pt x="9654" y="162659"/>
                </a:cubicBezTo>
                <a:lnTo>
                  <a:pt x="33337" y="151686"/>
                </a:lnTo>
                <a:close/>
                <a:moveTo>
                  <a:pt x="9654" y="251559"/>
                </a:moveTo>
                <a:lnTo>
                  <a:pt x="33337" y="240586"/>
                </a:lnTo>
                <a:lnTo>
                  <a:pt x="147449" y="293301"/>
                </a:lnTo>
                <a:cubicBezTo>
                  <a:pt x="166688" y="302191"/>
                  <a:pt x="188843" y="302191"/>
                  <a:pt x="208082" y="293301"/>
                </a:cubicBezTo>
                <a:lnTo>
                  <a:pt x="322193" y="240586"/>
                </a:lnTo>
                <a:lnTo>
                  <a:pt x="345877" y="251559"/>
                </a:lnTo>
                <a:cubicBezTo>
                  <a:pt x="351780" y="254268"/>
                  <a:pt x="355531" y="260171"/>
                  <a:pt x="355531" y="266700"/>
                </a:cubicBezTo>
                <a:cubicBezTo>
                  <a:pt x="355531" y="273229"/>
                  <a:pt x="351780" y="279132"/>
                  <a:pt x="345877" y="281841"/>
                </a:cubicBezTo>
                <a:lnTo>
                  <a:pt x="194052" y="351988"/>
                </a:lnTo>
                <a:cubicBezTo>
                  <a:pt x="183704" y="356781"/>
                  <a:pt x="171758" y="356781"/>
                  <a:pt x="161409" y="351988"/>
                </a:cubicBezTo>
                <a:lnTo>
                  <a:pt x="9654" y="281841"/>
                </a:lnTo>
                <a:cubicBezTo>
                  <a:pt x="3750" y="279063"/>
                  <a:pt x="0" y="273159"/>
                  <a:pt x="0" y="266700"/>
                </a:cubicBezTo>
                <a:cubicBezTo>
                  <a:pt x="0" y="260241"/>
                  <a:pt x="3750" y="254268"/>
                  <a:pt x="9654" y="25155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6" name="Text 23"/>
          <p:cNvSpPr/>
          <p:nvPr/>
        </p:nvSpPr>
        <p:spPr>
          <a:xfrm>
            <a:off x="9398000" y="6604000"/>
            <a:ext cx="558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Multi-Label Detection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Detects toxicity, severe toxicity, obscenity, threat, insult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890000" y="7683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44406" y="194469"/>
                </a:moveTo>
                <a:lnTo>
                  <a:pt x="111820" y="194469"/>
                </a:lnTo>
                <a:cubicBezTo>
                  <a:pt x="113834" y="239266"/>
                  <a:pt x="123765" y="280521"/>
                  <a:pt x="137864" y="310733"/>
                </a:cubicBezTo>
                <a:cubicBezTo>
                  <a:pt x="145782" y="327749"/>
                  <a:pt x="154325" y="339765"/>
                  <a:pt x="162242" y="347127"/>
                </a:cubicBezTo>
                <a:cubicBezTo>
                  <a:pt x="170021" y="354419"/>
                  <a:pt x="175369" y="355600"/>
                  <a:pt x="178147" y="355600"/>
                </a:cubicBezTo>
                <a:cubicBezTo>
                  <a:pt x="180925" y="355600"/>
                  <a:pt x="186273" y="354419"/>
                  <a:pt x="194052" y="347127"/>
                </a:cubicBezTo>
                <a:cubicBezTo>
                  <a:pt x="201970" y="339765"/>
                  <a:pt x="210512" y="327680"/>
                  <a:pt x="218430" y="310733"/>
                </a:cubicBezTo>
                <a:cubicBezTo>
                  <a:pt x="232529" y="280521"/>
                  <a:pt x="242461" y="239266"/>
                  <a:pt x="244475" y="194469"/>
                </a:cubicBezTo>
                <a:close/>
                <a:moveTo>
                  <a:pt x="111750" y="161131"/>
                </a:moveTo>
                <a:lnTo>
                  <a:pt x="244336" y="161131"/>
                </a:lnTo>
                <a:cubicBezTo>
                  <a:pt x="242391" y="116334"/>
                  <a:pt x="232460" y="75079"/>
                  <a:pt x="218361" y="44867"/>
                </a:cubicBezTo>
                <a:cubicBezTo>
                  <a:pt x="210443" y="27920"/>
                  <a:pt x="201900" y="15835"/>
                  <a:pt x="193983" y="8473"/>
                </a:cubicBezTo>
                <a:cubicBezTo>
                  <a:pt x="186204" y="1181"/>
                  <a:pt x="180856" y="0"/>
                  <a:pt x="178078" y="0"/>
                </a:cubicBezTo>
                <a:cubicBezTo>
                  <a:pt x="175300" y="0"/>
                  <a:pt x="169952" y="1181"/>
                  <a:pt x="162173" y="8473"/>
                </a:cubicBezTo>
                <a:cubicBezTo>
                  <a:pt x="154255" y="15835"/>
                  <a:pt x="145713" y="27920"/>
                  <a:pt x="137795" y="44867"/>
                </a:cubicBezTo>
                <a:cubicBezTo>
                  <a:pt x="123696" y="75079"/>
                  <a:pt x="113764" y="116334"/>
                  <a:pt x="111750" y="161131"/>
                </a:cubicBezTo>
                <a:close/>
                <a:moveTo>
                  <a:pt x="78413" y="161131"/>
                </a:moveTo>
                <a:cubicBezTo>
                  <a:pt x="80843" y="101679"/>
                  <a:pt x="96193" y="46464"/>
                  <a:pt x="118626" y="10210"/>
                </a:cubicBezTo>
                <a:cubicBezTo>
                  <a:pt x="54660" y="32851"/>
                  <a:pt x="7570" y="91122"/>
                  <a:pt x="1042" y="161131"/>
                </a:cubicBezTo>
                <a:lnTo>
                  <a:pt x="78413" y="161131"/>
                </a:lnTo>
                <a:close/>
                <a:moveTo>
                  <a:pt x="1042" y="194469"/>
                </a:moveTo>
                <a:cubicBezTo>
                  <a:pt x="7570" y="264478"/>
                  <a:pt x="54660" y="322749"/>
                  <a:pt x="118626" y="345390"/>
                </a:cubicBezTo>
                <a:cubicBezTo>
                  <a:pt x="96193" y="309136"/>
                  <a:pt x="80843" y="253921"/>
                  <a:pt x="78413" y="194469"/>
                </a:cubicBezTo>
                <a:lnTo>
                  <a:pt x="1042" y="194469"/>
                </a:lnTo>
                <a:close/>
                <a:moveTo>
                  <a:pt x="277743" y="194469"/>
                </a:moveTo>
                <a:cubicBezTo>
                  <a:pt x="275312" y="253921"/>
                  <a:pt x="259963" y="309136"/>
                  <a:pt x="237530" y="345390"/>
                </a:cubicBezTo>
                <a:cubicBezTo>
                  <a:pt x="301496" y="322679"/>
                  <a:pt x="348585" y="264478"/>
                  <a:pt x="355114" y="194469"/>
                </a:cubicBezTo>
                <a:lnTo>
                  <a:pt x="277743" y="194469"/>
                </a:lnTo>
                <a:close/>
                <a:moveTo>
                  <a:pt x="355114" y="161131"/>
                </a:moveTo>
                <a:cubicBezTo>
                  <a:pt x="348585" y="91122"/>
                  <a:pt x="301496" y="32851"/>
                  <a:pt x="237530" y="10210"/>
                </a:cubicBezTo>
                <a:cubicBezTo>
                  <a:pt x="259963" y="46464"/>
                  <a:pt x="275312" y="101679"/>
                  <a:pt x="277743" y="161131"/>
                </a:cubicBezTo>
                <a:lnTo>
                  <a:pt x="355114" y="161131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8" name="Text 25"/>
          <p:cNvSpPr/>
          <p:nvPr/>
        </p:nvSpPr>
        <p:spPr>
          <a:xfrm>
            <a:off x="9398000" y="7620000"/>
            <a:ext cx="558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Ready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API and web interface for easy deployment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&amp; Problem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397000" y="469900"/>
            <a:ext cx="127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&amp; 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7366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62000" y="13081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587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Objectives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2095500"/>
            <a:ext cx="7175500" cy="14605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79500" y="241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0050" y="228600"/>
                </a:moveTo>
                <a:cubicBezTo>
                  <a:pt x="400050" y="133974"/>
                  <a:pt x="323226" y="57150"/>
                  <a:pt x="228600" y="57150"/>
                </a:cubicBezTo>
                <a:cubicBezTo>
                  <a:pt x="133974" y="57150"/>
                  <a:pt x="57150" y="133974"/>
                  <a:pt x="57150" y="228600"/>
                </a:cubicBezTo>
                <a:cubicBezTo>
                  <a:pt x="57150" y="323226"/>
                  <a:pt x="133974" y="400050"/>
                  <a:pt x="228600" y="400050"/>
                </a:cubicBezTo>
                <a:cubicBezTo>
                  <a:pt x="323226" y="400050"/>
                  <a:pt x="400050" y="323226"/>
                  <a:pt x="400050" y="228600"/>
                </a:cubicBezTo>
                <a:close/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28600" y="300038"/>
                </a:moveTo>
                <a:cubicBezTo>
                  <a:pt x="268027" y="300038"/>
                  <a:pt x="300038" y="268027"/>
                  <a:pt x="300038" y="228600"/>
                </a:cubicBezTo>
                <a:cubicBezTo>
                  <a:pt x="300038" y="189173"/>
                  <a:pt x="268027" y="157163"/>
                  <a:pt x="228600" y="157163"/>
                </a:cubicBezTo>
                <a:cubicBezTo>
                  <a:pt x="189173" y="157163"/>
                  <a:pt x="157163" y="189173"/>
                  <a:pt x="157163" y="228600"/>
                </a:cubicBezTo>
                <a:cubicBezTo>
                  <a:pt x="157163" y="268027"/>
                  <a:pt x="189173" y="300038"/>
                  <a:pt x="228600" y="300038"/>
                </a:cubicBezTo>
                <a:close/>
                <a:moveTo>
                  <a:pt x="228600" y="100013"/>
                </a:moveTo>
                <a:cubicBezTo>
                  <a:pt x="299569" y="100013"/>
                  <a:pt x="357188" y="157631"/>
                  <a:pt x="357188" y="228600"/>
                </a:cubicBezTo>
                <a:cubicBezTo>
                  <a:pt x="357188" y="299569"/>
                  <a:pt x="299569" y="357188"/>
                  <a:pt x="228600" y="357188"/>
                </a:cubicBezTo>
                <a:cubicBezTo>
                  <a:pt x="157631" y="357188"/>
                  <a:pt x="100013" y="299569"/>
                  <a:pt x="100013" y="228600"/>
                </a:cubicBezTo>
                <a:cubicBezTo>
                  <a:pt x="100013" y="157631"/>
                  <a:pt x="157631" y="100013"/>
                  <a:pt x="228600" y="100013"/>
                </a:cubicBezTo>
                <a:close/>
                <a:moveTo>
                  <a:pt x="200025" y="228600"/>
                </a:moveTo>
                <a:cubicBezTo>
                  <a:pt x="200025" y="212829"/>
                  <a:pt x="212829" y="200025"/>
                  <a:pt x="228600" y="200025"/>
                </a:cubicBezTo>
                <a:cubicBezTo>
                  <a:pt x="244371" y="200025"/>
                  <a:pt x="257175" y="212829"/>
                  <a:pt x="257175" y="228600"/>
                </a:cubicBezTo>
                <a:cubicBezTo>
                  <a:pt x="257175" y="244371"/>
                  <a:pt x="244371" y="257175"/>
                  <a:pt x="228600" y="257175"/>
                </a:cubicBezTo>
                <a:cubicBezTo>
                  <a:pt x="212829" y="257175"/>
                  <a:pt x="200025" y="244371"/>
                  <a:pt x="200025" y="2286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1778000" y="2260600"/>
            <a:ext cx="584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Detection Accuracy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78000" y="26416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Achieve accuracy exceeding 98% on test data for toxic vs non-toxic classification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18500" y="2095500"/>
            <a:ext cx="7175500" cy="14605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8636000" y="241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ubicBezTo>
                  <a:pt x="0" y="102432"/>
                  <a:pt x="102432" y="0"/>
                  <a:pt x="228600" y="0"/>
                </a:cubicBezTo>
                <a:close/>
                <a:moveTo>
                  <a:pt x="207169" y="107156"/>
                </a:moveTo>
                <a:lnTo>
                  <a:pt x="207169" y="228600"/>
                </a:lnTo>
                <a:cubicBezTo>
                  <a:pt x="207169" y="235744"/>
                  <a:pt x="210741" y="242441"/>
                  <a:pt x="216724" y="246459"/>
                </a:cubicBezTo>
                <a:lnTo>
                  <a:pt x="302449" y="303609"/>
                </a:lnTo>
                <a:cubicBezTo>
                  <a:pt x="312271" y="310217"/>
                  <a:pt x="325576" y="307538"/>
                  <a:pt x="332184" y="297626"/>
                </a:cubicBezTo>
                <a:cubicBezTo>
                  <a:pt x="338792" y="287715"/>
                  <a:pt x="336113" y="274499"/>
                  <a:pt x="326201" y="267891"/>
                </a:cubicBezTo>
                <a:lnTo>
                  <a:pt x="250031" y="217170"/>
                </a:lnTo>
                <a:lnTo>
                  <a:pt x="250031" y="107156"/>
                </a:lnTo>
                <a:cubicBezTo>
                  <a:pt x="250031" y="95280"/>
                  <a:pt x="240476" y="85725"/>
                  <a:pt x="228600" y="85725"/>
                </a:cubicBezTo>
                <a:cubicBezTo>
                  <a:pt x="216724" y="85725"/>
                  <a:pt x="207169" y="95280"/>
                  <a:pt x="207169" y="107156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9334500" y="2260600"/>
            <a:ext cx="584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Processing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34500" y="26416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 individual comment analysis completes rapidly for live moderation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3810000"/>
            <a:ext cx="7175500" cy="14605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1079500" y="4127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314325"/>
                </a:lnTo>
                <a:cubicBezTo>
                  <a:pt x="0" y="345847"/>
                  <a:pt x="25628" y="371475"/>
                  <a:pt x="57150" y="371475"/>
                </a:cubicBezTo>
                <a:lnTo>
                  <a:pt x="185738" y="371475"/>
                </a:lnTo>
                <a:lnTo>
                  <a:pt x="171450" y="414338"/>
                </a:lnTo>
                <a:lnTo>
                  <a:pt x="107156" y="414338"/>
                </a:lnTo>
                <a:cubicBezTo>
                  <a:pt x="95280" y="414338"/>
                  <a:pt x="85725" y="423892"/>
                  <a:pt x="85725" y="435769"/>
                </a:cubicBezTo>
                <a:cubicBezTo>
                  <a:pt x="85725" y="447645"/>
                  <a:pt x="95280" y="457200"/>
                  <a:pt x="107156" y="457200"/>
                </a:cubicBezTo>
                <a:lnTo>
                  <a:pt x="350044" y="457200"/>
                </a:lnTo>
                <a:cubicBezTo>
                  <a:pt x="361920" y="457200"/>
                  <a:pt x="371475" y="447645"/>
                  <a:pt x="371475" y="435769"/>
                </a:cubicBezTo>
                <a:cubicBezTo>
                  <a:pt x="371475" y="423892"/>
                  <a:pt x="361920" y="414338"/>
                  <a:pt x="350044" y="414338"/>
                </a:cubicBezTo>
                <a:lnTo>
                  <a:pt x="285750" y="414338"/>
                </a:lnTo>
                <a:lnTo>
                  <a:pt x="271463" y="371475"/>
                </a:lnTo>
                <a:lnTo>
                  <a:pt x="400050" y="371475"/>
                </a:lnTo>
                <a:cubicBezTo>
                  <a:pt x="431572" y="371475"/>
                  <a:pt x="457200" y="345847"/>
                  <a:pt x="457200" y="314325"/>
                </a:cubicBezTo>
                <a:lnTo>
                  <a:pt x="457200" y="85725"/>
                </a:lnTo>
                <a:cubicBezTo>
                  <a:pt x="457200" y="54203"/>
                  <a:pt x="431572" y="28575"/>
                  <a:pt x="400050" y="28575"/>
                </a:cubicBezTo>
                <a:lnTo>
                  <a:pt x="57150" y="28575"/>
                </a:lnTo>
                <a:close/>
                <a:moveTo>
                  <a:pt x="85725" y="85725"/>
                </a:moveTo>
                <a:lnTo>
                  <a:pt x="371475" y="85725"/>
                </a:lnTo>
                <a:cubicBezTo>
                  <a:pt x="387281" y="85725"/>
                  <a:pt x="400050" y="98494"/>
                  <a:pt x="400050" y="114300"/>
                </a:cubicBezTo>
                <a:lnTo>
                  <a:pt x="400050" y="257175"/>
                </a:lnTo>
                <a:cubicBezTo>
                  <a:pt x="400050" y="272981"/>
                  <a:pt x="387281" y="285750"/>
                  <a:pt x="371475" y="285750"/>
                </a:cubicBezTo>
                <a:lnTo>
                  <a:pt x="85725" y="285750"/>
                </a:lnTo>
                <a:cubicBezTo>
                  <a:pt x="69919" y="285750"/>
                  <a:pt x="57150" y="272981"/>
                  <a:pt x="57150" y="257175"/>
                </a:cubicBezTo>
                <a:lnTo>
                  <a:pt x="57150" y="114300"/>
                </a:lnTo>
                <a:cubicBezTo>
                  <a:pt x="57150" y="98494"/>
                  <a:pt x="69919" y="85725"/>
                  <a:pt x="85725" y="85725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1778000" y="3975100"/>
            <a:ext cx="584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User-Friendly Interface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78000" y="43561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 intuitive web interface for non-technical moderators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18500" y="3810000"/>
            <a:ext cx="7175500" cy="14605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24" name="Shape 22"/>
          <p:cNvSpPr/>
          <p:nvPr/>
        </p:nvSpPr>
        <p:spPr>
          <a:xfrm>
            <a:off x="8578850" y="41275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371386" y="187970"/>
                </a:moveTo>
                <a:cubicBezTo>
                  <a:pt x="382280" y="185023"/>
                  <a:pt x="393710" y="190202"/>
                  <a:pt x="398621" y="200293"/>
                </a:cubicBezTo>
                <a:lnTo>
                  <a:pt x="415230" y="233869"/>
                </a:lnTo>
                <a:cubicBezTo>
                  <a:pt x="424428" y="235119"/>
                  <a:pt x="433447" y="237619"/>
                  <a:pt x="441930" y="241102"/>
                </a:cubicBezTo>
                <a:lnTo>
                  <a:pt x="473184" y="220295"/>
                </a:lnTo>
                <a:cubicBezTo>
                  <a:pt x="482560" y="214045"/>
                  <a:pt x="494973" y="215295"/>
                  <a:pt x="502920" y="223242"/>
                </a:cubicBezTo>
                <a:lnTo>
                  <a:pt x="520065" y="240387"/>
                </a:lnTo>
                <a:cubicBezTo>
                  <a:pt x="528012" y="248335"/>
                  <a:pt x="529263" y="260836"/>
                  <a:pt x="523012" y="270123"/>
                </a:cubicBezTo>
                <a:lnTo>
                  <a:pt x="502206" y="301288"/>
                </a:lnTo>
                <a:cubicBezTo>
                  <a:pt x="503902" y="305485"/>
                  <a:pt x="505420" y="309860"/>
                  <a:pt x="506670" y="314414"/>
                </a:cubicBezTo>
                <a:cubicBezTo>
                  <a:pt x="507921" y="318968"/>
                  <a:pt x="508724" y="323433"/>
                  <a:pt x="509349" y="327987"/>
                </a:cubicBezTo>
                <a:lnTo>
                  <a:pt x="543014" y="344597"/>
                </a:lnTo>
                <a:cubicBezTo>
                  <a:pt x="553105" y="349597"/>
                  <a:pt x="558284" y="361027"/>
                  <a:pt x="555337" y="371832"/>
                </a:cubicBezTo>
                <a:lnTo>
                  <a:pt x="549086" y="395228"/>
                </a:lnTo>
                <a:cubicBezTo>
                  <a:pt x="546140" y="406033"/>
                  <a:pt x="536049" y="413355"/>
                  <a:pt x="524798" y="412641"/>
                </a:cubicBezTo>
                <a:lnTo>
                  <a:pt x="487293" y="410230"/>
                </a:lnTo>
                <a:cubicBezTo>
                  <a:pt x="481667" y="417463"/>
                  <a:pt x="475149" y="424160"/>
                  <a:pt x="467737" y="429875"/>
                </a:cubicBezTo>
                <a:lnTo>
                  <a:pt x="470148" y="467291"/>
                </a:lnTo>
                <a:cubicBezTo>
                  <a:pt x="470862" y="478542"/>
                  <a:pt x="463540" y="488722"/>
                  <a:pt x="452735" y="491579"/>
                </a:cubicBezTo>
                <a:lnTo>
                  <a:pt x="429339" y="497830"/>
                </a:lnTo>
                <a:cubicBezTo>
                  <a:pt x="418445" y="500777"/>
                  <a:pt x="407104" y="495598"/>
                  <a:pt x="402104" y="485507"/>
                </a:cubicBezTo>
                <a:lnTo>
                  <a:pt x="385495" y="451931"/>
                </a:lnTo>
                <a:cubicBezTo>
                  <a:pt x="376297" y="450681"/>
                  <a:pt x="367278" y="448181"/>
                  <a:pt x="358795" y="444698"/>
                </a:cubicBezTo>
                <a:lnTo>
                  <a:pt x="327541" y="465505"/>
                </a:lnTo>
                <a:cubicBezTo>
                  <a:pt x="318165" y="471755"/>
                  <a:pt x="305753" y="470505"/>
                  <a:pt x="297805" y="462558"/>
                </a:cubicBezTo>
                <a:lnTo>
                  <a:pt x="280660" y="445413"/>
                </a:lnTo>
                <a:cubicBezTo>
                  <a:pt x="272713" y="437465"/>
                  <a:pt x="271463" y="425053"/>
                  <a:pt x="277713" y="415677"/>
                </a:cubicBezTo>
                <a:lnTo>
                  <a:pt x="298519" y="384423"/>
                </a:lnTo>
                <a:cubicBezTo>
                  <a:pt x="296823" y="380226"/>
                  <a:pt x="295305" y="375851"/>
                  <a:pt x="294055" y="371296"/>
                </a:cubicBezTo>
                <a:cubicBezTo>
                  <a:pt x="292804" y="366742"/>
                  <a:pt x="292001" y="362188"/>
                  <a:pt x="291376" y="357723"/>
                </a:cubicBezTo>
                <a:lnTo>
                  <a:pt x="257711" y="341114"/>
                </a:lnTo>
                <a:cubicBezTo>
                  <a:pt x="247620" y="336113"/>
                  <a:pt x="242530" y="324683"/>
                  <a:pt x="245388" y="313879"/>
                </a:cubicBezTo>
                <a:lnTo>
                  <a:pt x="251639" y="290483"/>
                </a:lnTo>
                <a:cubicBezTo>
                  <a:pt x="254585" y="279678"/>
                  <a:pt x="264676" y="272355"/>
                  <a:pt x="275927" y="273070"/>
                </a:cubicBezTo>
                <a:lnTo>
                  <a:pt x="313343" y="275481"/>
                </a:lnTo>
                <a:cubicBezTo>
                  <a:pt x="318968" y="268248"/>
                  <a:pt x="325487" y="261551"/>
                  <a:pt x="332899" y="255836"/>
                </a:cubicBezTo>
                <a:lnTo>
                  <a:pt x="330488" y="218509"/>
                </a:lnTo>
                <a:cubicBezTo>
                  <a:pt x="329773" y="207258"/>
                  <a:pt x="337096" y="197078"/>
                  <a:pt x="347901" y="194221"/>
                </a:cubicBezTo>
                <a:lnTo>
                  <a:pt x="371296" y="187970"/>
                </a:lnTo>
                <a:close/>
                <a:moveTo>
                  <a:pt x="400407" y="303609"/>
                </a:moveTo>
                <a:cubicBezTo>
                  <a:pt x="378722" y="303634"/>
                  <a:pt x="361137" y="321260"/>
                  <a:pt x="361161" y="342945"/>
                </a:cubicBezTo>
                <a:cubicBezTo>
                  <a:pt x="361186" y="364630"/>
                  <a:pt x="378811" y="382215"/>
                  <a:pt x="400496" y="382191"/>
                </a:cubicBezTo>
                <a:cubicBezTo>
                  <a:pt x="422182" y="382166"/>
                  <a:pt x="439767" y="364540"/>
                  <a:pt x="439742" y="342855"/>
                </a:cubicBezTo>
                <a:cubicBezTo>
                  <a:pt x="439718" y="321170"/>
                  <a:pt x="422092" y="303585"/>
                  <a:pt x="400407" y="303609"/>
                </a:cubicBezTo>
                <a:close/>
                <a:moveTo>
                  <a:pt x="200829" y="-40630"/>
                </a:moveTo>
                <a:lnTo>
                  <a:pt x="224224" y="-34379"/>
                </a:lnTo>
                <a:cubicBezTo>
                  <a:pt x="235029" y="-31433"/>
                  <a:pt x="242352" y="-21253"/>
                  <a:pt x="241637" y="-10091"/>
                </a:cubicBezTo>
                <a:lnTo>
                  <a:pt x="239226" y="27236"/>
                </a:lnTo>
                <a:cubicBezTo>
                  <a:pt x="246638" y="32951"/>
                  <a:pt x="253157" y="39559"/>
                  <a:pt x="258782" y="46881"/>
                </a:cubicBezTo>
                <a:lnTo>
                  <a:pt x="296287" y="44470"/>
                </a:lnTo>
                <a:cubicBezTo>
                  <a:pt x="307449" y="43755"/>
                  <a:pt x="317629" y="51078"/>
                  <a:pt x="320576" y="61883"/>
                </a:cubicBezTo>
                <a:lnTo>
                  <a:pt x="326827" y="85279"/>
                </a:lnTo>
                <a:cubicBezTo>
                  <a:pt x="329684" y="96083"/>
                  <a:pt x="324594" y="107513"/>
                  <a:pt x="314504" y="112514"/>
                </a:cubicBezTo>
                <a:lnTo>
                  <a:pt x="280839" y="129123"/>
                </a:lnTo>
                <a:cubicBezTo>
                  <a:pt x="280214" y="133677"/>
                  <a:pt x="279321" y="138232"/>
                  <a:pt x="278160" y="142696"/>
                </a:cubicBezTo>
                <a:cubicBezTo>
                  <a:pt x="276999" y="147161"/>
                  <a:pt x="275392" y="151626"/>
                  <a:pt x="273695" y="155823"/>
                </a:cubicBezTo>
                <a:lnTo>
                  <a:pt x="294501" y="187077"/>
                </a:lnTo>
                <a:cubicBezTo>
                  <a:pt x="300752" y="196453"/>
                  <a:pt x="299502" y="208865"/>
                  <a:pt x="291554" y="216813"/>
                </a:cubicBezTo>
                <a:lnTo>
                  <a:pt x="274409" y="233958"/>
                </a:lnTo>
                <a:cubicBezTo>
                  <a:pt x="266462" y="241905"/>
                  <a:pt x="254050" y="243155"/>
                  <a:pt x="244673" y="236905"/>
                </a:cubicBezTo>
                <a:lnTo>
                  <a:pt x="213420" y="216098"/>
                </a:lnTo>
                <a:cubicBezTo>
                  <a:pt x="204936" y="219581"/>
                  <a:pt x="195917" y="222081"/>
                  <a:pt x="186720" y="223331"/>
                </a:cubicBezTo>
                <a:lnTo>
                  <a:pt x="170111" y="256907"/>
                </a:lnTo>
                <a:cubicBezTo>
                  <a:pt x="165110" y="266998"/>
                  <a:pt x="153680" y="272088"/>
                  <a:pt x="142875" y="269230"/>
                </a:cubicBezTo>
                <a:lnTo>
                  <a:pt x="119479" y="262979"/>
                </a:lnTo>
                <a:cubicBezTo>
                  <a:pt x="108585" y="260033"/>
                  <a:pt x="101352" y="249853"/>
                  <a:pt x="102066" y="238691"/>
                </a:cubicBezTo>
                <a:lnTo>
                  <a:pt x="104477" y="201275"/>
                </a:lnTo>
                <a:cubicBezTo>
                  <a:pt x="97066" y="195560"/>
                  <a:pt x="90547" y="188952"/>
                  <a:pt x="84921" y="181630"/>
                </a:cubicBezTo>
                <a:lnTo>
                  <a:pt x="47417" y="184041"/>
                </a:lnTo>
                <a:cubicBezTo>
                  <a:pt x="36255" y="184755"/>
                  <a:pt x="26075" y="177433"/>
                  <a:pt x="23128" y="166628"/>
                </a:cubicBezTo>
                <a:lnTo>
                  <a:pt x="16877" y="143232"/>
                </a:lnTo>
                <a:cubicBezTo>
                  <a:pt x="14020" y="132427"/>
                  <a:pt x="19110" y="120997"/>
                  <a:pt x="29200" y="115997"/>
                </a:cubicBezTo>
                <a:lnTo>
                  <a:pt x="62865" y="99387"/>
                </a:lnTo>
                <a:cubicBezTo>
                  <a:pt x="63490" y="94833"/>
                  <a:pt x="64383" y="90368"/>
                  <a:pt x="65544" y="85814"/>
                </a:cubicBezTo>
                <a:cubicBezTo>
                  <a:pt x="66794" y="81260"/>
                  <a:pt x="68223" y="76885"/>
                  <a:pt x="70009" y="72688"/>
                </a:cubicBezTo>
                <a:lnTo>
                  <a:pt x="49203" y="41523"/>
                </a:lnTo>
                <a:cubicBezTo>
                  <a:pt x="42952" y="32147"/>
                  <a:pt x="44202" y="19735"/>
                  <a:pt x="52149" y="11787"/>
                </a:cubicBezTo>
                <a:lnTo>
                  <a:pt x="69294" y="-5358"/>
                </a:lnTo>
                <a:cubicBezTo>
                  <a:pt x="77242" y="-13305"/>
                  <a:pt x="89654" y="-14555"/>
                  <a:pt x="99030" y="-8305"/>
                </a:cubicBezTo>
                <a:lnTo>
                  <a:pt x="130284" y="12502"/>
                </a:lnTo>
                <a:cubicBezTo>
                  <a:pt x="138767" y="9019"/>
                  <a:pt x="147786" y="6519"/>
                  <a:pt x="156984" y="5269"/>
                </a:cubicBezTo>
                <a:lnTo>
                  <a:pt x="173593" y="-28307"/>
                </a:lnTo>
                <a:cubicBezTo>
                  <a:pt x="178594" y="-38398"/>
                  <a:pt x="189934" y="-43488"/>
                  <a:pt x="200829" y="-40630"/>
                </a:cubicBezTo>
                <a:close/>
                <a:moveTo>
                  <a:pt x="171807" y="75009"/>
                </a:moveTo>
                <a:cubicBezTo>
                  <a:pt x="150122" y="75009"/>
                  <a:pt x="132517" y="92615"/>
                  <a:pt x="132517" y="114300"/>
                </a:cubicBezTo>
                <a:cubicBezTo>
                  <a:pt x="132517" y="135985"/>
                  <a:pt x="150122" y="153591"/>
                  <a:pt x="171807" y="153591"/>
                </a:cubicBezTo>
                <a:cubicBezTo>
                  <a:pt x="193492" y="153591"/>
                  <a:pt x="211098" y="135985"/>
                  <a:pt x="211098" y="114300"/>
                </a:cubicBezTo>
                <a:cubicBezTo>
                  <a:pt x="211098" y="92615"/>
                  <a:pt x="193492" y="75009"/>
                  <a:pt x="171807" y="7500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9334500" y="3975100"/>
            <a:ext cx="584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NLP Pipeline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34500" y="43561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preprocessing, tokenization, inference, and post-processing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00" y="5588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Secondary Objectives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2000" y="6070600"/>
            <a:ext cx="685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Support batch processing for multiple comments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Provide confidence scores for each prediction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Enable real-time dashboard statistics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Document all API endpoints for integration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318500" y="5588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Objectives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18500" y="6070600"/>
            <a:ext cx="71755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 transformer architecture and attention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Gain practical BERT fine-tuning experience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Develop full-stack NLP application skills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Learn ML model deployment strategies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dxv4hoehigcay/mnt/agents/output/toxic-comment-detector/images/3_Abstract_Neural_Network_Web_on_Dark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4C5C">
                  <a:alpha val="95000"/>
                </a:srgbClr>
              </a:gs>
              <a:gs pos="55000">
                <a:srgbClr val="0F4C5C">
                  <a:alpha val="88000"/>
                </a:srgbClr>
              </a:gs>
              <a:gs pos="100000">
                <a:srgbClr val="0F4C5C">
                  <a:alpha val="6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286000"/>
            <a:ext cx="381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FFFFFF">
                    <a:alpha val="12549"/>
                  </a:srgbClr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16000" y="4064000"/>
            <a:ext cx="101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43815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Literature &amp; Methodology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5143500"/>
            <a:ext cx="698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transformers to BERT-based toxic comment detection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&amp;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&amp; Methodology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61000" y="469900"/>
            <a:ext cx="127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BERT &amp; Transformer Architecture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62000" y="13081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524000"/>
            <a:ext cx="7112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transformer architecture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(Vaswani et al., 2017) revolutionized NLP with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self-attention mechanism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processing all words simultaneously.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BERT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(Devlin et al., 2019) extended this with bidirectional training on 3.3 billion words.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2000" y="3873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BERT-base Specifications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318000"/>
          <a:ext cx="7112000" cy="2540000"/>
        </p:xfrm>
        <a:graphic>
          <a:graphicData uri="http://schemas.openxmlformats.org/drawingml/2006/table">
            <a:tbl>
              <a:tblPr/>
              <a:tblGrid>
                <a:gridCol w="3556000"/>
                <a:gridCol w="35560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Parameter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Value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Number of Layers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Hidden Size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768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Attention Heads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Total Parameters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110 million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762000" y="7112000"/>
            <a:ext cx="444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Model: unitary/toxic-bert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62000" y="7543800"/>
            <a:ext cx="7112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Fine-tuned on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Jigsaw Toxic Comment Classification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dataset. Supports multi-label classification: toxicity, severe toxicity, obscenity, threat, insult, and identity hate.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382000" y="1524000"/>
            <a:ext cx="7112000" cy="7112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16" name="Text 13"/>
          <p:cNvSpPr/>
          <p:nvPr/>
        </p:nvSpPr>
        <p:spPr>
          <a:xfrm>
            <a:off x="8763000" y="1778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Sequence Classification Pipeline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9398000" y="2349500"/>
            <a:ext cx="5080000" cy="533400"/>
          </a:xfrm>
          <a:prstGeom prst="roundRect">
            <a:avLst>
              <a:gd name="adj" fmla="val 10000"/>
            </a:avLst>
          </a:prstGeom>
          <a:solidFill>
            <a:srgbClr val="0F4C5C"/>
          </a:solidFill>
          <a:ln/>
        </p:spPr>
      </p:sp>
      <p:sp>
        <p:nvSpPr>
          <p:cNvPr id="18" name="Text 15"/>
          <p:cNvSpPr/>
          <p:nvPr/>
        </p:nvSpPr>
        <p:spPr>
          <a:xfrm>
            <a:off x="9398000" y="2349500"/>
            <a:ext cx="508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Text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2192000" y="2882900"/>
            <a:ext cx="0" cy="2794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20" name="Shape 17"/>
          <p:cNvSpPr/>
          <p:nvPr/>
        </p:nvSpPr>
        <p:spPr>
          <a:xfrm>
            <a:off x="9398000" y="3225800"/>
            <a:ext cx="5080000" cy="533400"/>
          </a:xfrm>
          <a:prstGeom prst="roundRect">
            <a:avLst>
              <a:gd name="adj" fmla="val 10000"/>
            </a:avLst>
          </a:prstGeom>
          <a:solidFill>
            <a:srgbClr val="1A5F70"/>
          </a:solidFill>
          <a:ln/>
        </p:spPr>
      </p:sp>
      <p:sp>
        <p:nvSpPr>
          <p:cNvPr id="21" name="Text 18"/>
          <p:cNvSpPr/>
          <p:nvPr/>
        </p:nvSpPr>
        <p:spPr>
          <a:xfrm>
            <a:off x="9398000" y="3225800"/>
            <a:ext cx="508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Tokenization ([CLS] + Tokens + [SEP])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2192000" y="3759200"/>
            <a:ext cx="0" cy="2794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23" name="Shape 20"/>
          <p:cNvSpPr/>
          <p:nvPr/>
        </p:nvSpPr>
        <p:spPr>
          <a:xfrm>
            <a:off x="9398000" y="4102100"/>
            <a:ext cx="5080000" cy="533400"/>
          </a:xfrm>
          <a:prstGeom prst="roundRect">
            <a:avLst>
              <a:gd name="adj" fmla="val 10000"/>
            </a:avLst>
          </a:prstGeom>
          <a:solidFill>
            <a:srgbClr val="257485"/>
          </a:solidFill>
          <a:ln/>
        </p:spPr>
      </p:sp>
      <p:sp>
        <p:nvSpPr>
          <p:cNvPr id="24" name="Text 21"/>
          <p:cNvSpPr/>
          <p:nvPr/>
        </p:nvSpPr>
        <p:spPr>
          <a:xfrm>
            <a:off x="9398000" y="4102100"/>
            <a:ext cx="508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BERT Encoder (12 Layers)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12192000" y="4635500"/>
            <a:ext cx="0" cy="2794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26" name="Shape 23"/>
          <p:cNvSpPr/>
          <p:nvPr/>
        </p:nvSpPr>
        <p:spPr>
          <a:xfrm>
            <a:off x="9398000" y="4978400"/>
            <a:ext cx="5080000" cy="533400"/>
          </a:xfrm>
          <a:prstGeom prst="roundRect">
            <a:avLst>
              <a:gd name="adj" fmla="val 10000"/>
            </a:avLst>
          </a:prstGeom>
          <a:solidFill>
            <a:srgbClr val="348A9A"/>
          </a:solidFill>
          <a:ln/>
        </p:spPr>
      </p:sp>
      <p:sp>
        <p:nvSpPr>
          <p:cNvPr id="27" name="Text 24"/>
          <p:cNvSpPr/>
          <p:nvPr/>
        </p:nvSpPr>
        <p:spPr>
          <a:xfrm>
            <a:off x="9398000" y="4978400"/>
            <a:ext cx="508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[CLS] Final Hidden State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12192000" y="5511800"/>
            <a:ext cx="0" cy="2794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29" name="Shape 26"/>
          <p:cNvSpPr/>
          <p:nvPr/>
        </p:nvSpPr>
        <p:spPr>
          <a:xfrm>
            <a:off x="9398000" y="5854700"/>
            <a:ext cx="5080000" cy="533400"/>
          </a:xfrm>
          <a:prstGeom prst="roundRect">
            <a:avLst>
              <a:gd name="adj" fmla="val 10000"/>
            </a:avLst>
          </a:prstGeom>
          <a:solidFill>
            <a:srgbClr val="4A9EAC"/>
          </a:solidFill>
          <a:ln/>
        </p:spPr>
      </p:sp>
      <p:sp>
        <p:nvSpPr>
          <p:cNvPr id="30" name="Text 27"/>
          <p:cNvSpPr/>
          <p:nvPr/>
        </p:nvSpPr>
        <p:spPr>
          <a:xfrm>
            <a:off x="9398000" y="5854700"/>
            <a:ext cx="508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 Head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12192000" y="6388100"/>
            <a:ext cx="0" cy="2794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32" name="Shape 29"/>
          <p:cNvSpPr/>
          <p:nvPr/>
        </p:nvSpPr>
        <p:spPr>
          <a:xfrm>
            <a:off x="9398000" y="6731000"/>
            <a:ext cx="5080000" cy="53340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/>
        </p:spPr>
      </p:sp>
      <p:sp>
        <p:nvSpPr>
          <p:cNvPr id="33" name="Text 30"/>
          <p:cNvSpPr/>
          <p:nvPr/>
        </p:nvSpPr>
        <p:spPr>
          <a:xfrm>
            <a:off x="9398000" y="6731000"/>
            <a:ext cx="508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Toxicity Probability Score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 31"/>
              <p:cNvSpPr/>
              <p:nvPr/>
            </p:nvSpPr>
            <p:spPr>
              <a:xfrm>
                <a:off x="8763000" y="7620000"/>
                <a:ext cx="6350000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600" dirty="0">
                    <a:solidFill>
                      <a:srgbClr val="64748B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Attention(Q,K,V) = softmax(QK</a:t>
                </a:r>
                <a:pPr algn="ctr">
                  <a:lnSpc>
                    <a:spcPct val="100000"/>
                  </a:lnSpc>
                </a:pPr>
                <a:r>
                  <a:rPr lang="en-US" sz="1600" baseline="30000" dirty="0">
                    <a:solidFill>
                      <a:srgbClr val="64748B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T</a:t>
                </a:r>
                <a:pPr algn="ctr">
                  <a:lnSpc>
                    <a:spcPct val="100000"/>
                  </a:lnSpc>
                </a:pPr>
                <a:r>
                  <a:rPr lang="en-US" sz="1600" dirty="0">
                    <a:solidFill>
                      <a:srgbClr val="64748B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/ </a:t>
                </a:r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ad>
                        <m:deg/>
                        <m:e>
                          <m:sSub>
                            <m:sSubPr>
                              <m:ctrlPr>
                                <a:rPr lang="en-US" sz="800" dirty="0"/>
                              </m:ctrlPr>
                            </m:sSubPr>
                            <m:e>
                              <m:r>
                                <a:rPr lang="en-US" sz="800" i="1" dirty="0"/>
                                <m:t>d</m:t>
                              </m:r>
                            </m:e>
                            <m:sub>
                              <m:r>
                                <a:rPr lang="en-US" sz="800" i="1" dirty="0"/>
                                <m:t>k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pPr algn="ctr">
                  <a:lnSpc>
                    <a:spcPct val="100000"/>
                  </a:lnSpc>
                </a:pPr>
                <a:r>
                  <a:rPr lang="en-US" sz="1600" dirty="0">
                    <a:solidFill>
                      <a:srgbClr val="64748B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) V</a:t>
                </a:r>
                <a:endParaRPr lang="en-US" sz="1600" dirty="0"/>
              </a:p>
            </p:txBody>
          </p:sp>
        </mc:Choice>
        <mc:Fallback xmlns="">
          <p:sp>
            <p:nvSpPr>
              <p:cNvPr id="34" name="Text 31"/>
              <p:cNvSpPr/>
              <p:nvPr/>
            </p:nvSpPr>
            <p:spPr>
              <a:xfrm>
                <a:off x="8763000" y="7620000"/>
                <a:ext cx="6350000" cy="355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600" dirty="0">
                    <a:solidFill>
                      <a:srgbClr val="64748B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Attention(Q,K,V) = softmax(QK</a:t>
                </a:r>
                <a:pPr algn="ctr">
                  <a:lnSpc>
                    <a:spcPct val="100000"/>
                  </a:lnSpc>
                </a:pPr>
                <a:r>
                  <a:rPr lang="en-US" sz="1600" baseline="30000" dirty="0">
                    <a:solidFill>
                      <a:srgbClr val="64748B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T</a:t>
                </a:r>
                <a:pPr algn="ctr">
                  <a:lnSpc>
                    <a:spcPct val="100000"/>
                  </a:lnSpc>
                </a:pPr>
                <a:r>
                  <a:rPr lang="en-US" sz="1600" dirty="0">
                    <a:solidFill>
                      <a:srgbClr val="64748B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/ </a:t>
                </a:r>
                <a:pPr algn="ctr">
                  <a:lnSpc>
                    <a:spcPct val="100000"/>
                  </a:lnSpc>
                </a:pPr>
                <a:r>
                  <a:rPr lang="en-US" sz="1600" dirty="0">
                    <a:solidFill>
                      <a:srgbClr val="64748B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\sqrt{d_k} )</a:t>
                </a:r>
                <a:pPr algn="ctr">
                  <a:lnSpc>
                    <a:spcPct val="100000"/>
                  </a:lnSpc>
                </a:pPr>
                <a:r>
                  <a:rPr lang="en-US" sz="1600" dirty="0">
                    <a:solidFill>
                      <a:srgbClr val="64748B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) V</a:t>
                </a:r>
                <a:endParaRPr lang="en-US" sz="1600" dirty="0"/>
              </a:p>
            </p:txBody>
          </p:sp>
        </mc:Fallback>
      </mc:AlternateContent>
      <p:sp>
        <p:nvSpPr>
          <p:cNvPr id="35" name="Text 32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&amp;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&amp; Methodology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61000" y="469900"/>
            <a:ext cx="127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7366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62000" y="13081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4986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Three-tier client-server architecture with clear separation of concerns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2000" y="2133600"/>
            <a:ext cx="4572000" cy="2921000"/>
          </a:xfrm>
          <a:prstGeom prst="roundRect">
            <a:avLst>
              <a:gd name="adj" fmla="val 6000"/>
            </a:avLst>
          </a:prstGeom>
          <a:solidFill>
            <a:srgbClr val="0F4C5C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0" y="2349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18981" y="333375"/>
                </a:moveTo>
                <a:lnTo>
                  <a:pt x="191691" y="333375"/>
                </a:lnTo>
                <a:cubicBezTo>
                  <a:pt x="195143" y="410170"/>
                  <a:pt x="212169" y="480893"/>
                  <a:pt x="236339" y="532686"/>
                </a:cubicBezTo>
                <a:cubicBezTo>
                  <a:pt x="249912" y="561856"/>
                  <a:pt x="264557" y="582454"/>
                  <a:pt x="278130" y="595074"/>
                </a:cubicBezTo>
                <a:cubicBezTo>
                  <a:pt x="291465" y="607576"/>
                  <a:pt x="300633" y="609600"/>
                  <a:pt x="305395" y="609600"/>
                </a:cubicBezTo>
                <a:cubicBezTo>
                  <a:pt x="310158" y="609600"/>
                  <a:pt x="319326" y="607576"/>
                  <a:pt x="332661" y="595074"/>
                </a:cubicBezTo>
                <a:cubicBezTo>
                  <a:pt x="346234" y="582454"/>
                  <a:pt x="360878" y="561737"/>
                  <a:pt x="374452" y="532686"/>
                </a:cubicBezTo>
                <a:cubicBezTo>
                  <a:pt x="398621" y="480893"/>
                  <a:pt x="415647" y="410170"/>
                  <a:pt x="419100" y="333375"/>
                </a:cubicBezTo>
                <a:close/>
                <a:moveTo>
                  <a:pt x="191572" y="276225"/>
                </a:moveTo>
                <a:lnTo>
                  <a:pt x="418862" y="276225"/>
                </a:lnTo>
                <a:cubicBezTo>
                  <a:pt x="415528" y="199430"/>
                  <a:pt x="398502" y="128707"/>
                  <a:pt x="374332" y="76914"/>
                </a:cubicBezTo>
                <a:cubicBezTo>
                  <a:pt x="360759" y="47863"/>
                  <a:pt x="346115" y="27146"/>
                  <a:pt x="332542" y="14526"/>
                </a:cubicBezTo>
                <a:cubicBezTo>
                  <a:pt x="319207" y="2024"/>
                  <a:pt x="310039" y="0"/>
                  <a:pt x="305276" y="0"/>
                </a:cubicBezTo>
                <a:cubicBezTo>
                  <a:pt x="300514" y="0"/>
                  <a:pt x="291346" y="2024"/>
                  <a:pt x="278011" y="14526"/>
                </a:cubicBezTo>
                <a:cubicBezTo>
                  <a:pt x="264438" y="27146"/>
                  <a:pt x="249793" y="47863"/>
                  <a:pt x="236220" y="76914"/>
                </a:cubicBezTo>
                <a:cubicBezTo>
                  <a:pt x="212050" y="128707"/>
                  <a:pt x="195024" y="199430"/>
                  <a:pt x="191572" y="276225"/>
                </a:cubicBezTo>
                <a:close/>
                <a:moveTo>
                  <a:pt x="134422" y="276225"/>
                </a:moveTo>
                <a:cubicBezTo>
                  <a:pt x="138589" y="174308"/>
                  <a:pt x="164902" y="79653"/>
                  <a:pt x="203359" y="17502"/>
                </a:cubicBezTo>
                <a:cubicBezTo>
                  <a:pt x="93702" y="56317"/>
                  <a:pt x="12978" y="156210"/>
                  <a:pt x="1786" y="276225"/>
                </a:cubicBezTo>
                <a:lnTo>
                  <a:pt x="134422" y="276225"/>
                </a:lnTo>
                <a:close/>
                <a:moveTo>
                  <a:pt x="1786" y="333375"/>
                </a:moveTo>
                <a:cubicBezTo>
                  <a:pt x="12978" y="453390"/>
                  <a:pt x="93702" y="553283"/>
                  <a:pt x="203359" y="592098"/>
                </a:cubicBezTo>
                <a:cubicBezTo>
                  <a:pt x="164902" y="529947"/>
                  <a:pt x="138589" y="435293"/>
                  <a:pt x="134422" y="333375"/>
                </a:cubicBezTo>
                <a:lnTo>
                  <a:pt x="1786" y="333375"/>
                </a:lnTo>
                <a:close/>
                <a:moveTo>
                  <a:pt x="476131" y="333375"/>
                </a:moveTo>
                <a:cubicBezTo>
                  <a:pt x="471964" y="435293"/>
                  <a:pt x="445651" y="529947"/>
                  <a:pt x="407194" y="592098"/>
                </a:cubicBezTo>
                <a:cubicBezTo>
                  <a:pt x="516850" y="553164"/>
                  <a:pt x="597575" y="453390"/>
                  <a:pt x="608767" y="333375"/>
                </a:cubicBezTo>
                <a:lnTo>
                  <a:pt x="476131" y="333375"/>
                </a:lnTo>
                <a:close/>
                <a:moveTo>
                  <a:pt x="608767" y="276225"/>
                </a:moveTo>
                <a:cubicBezTo>
                  <a:pt x="597575" y="156210"/>
                  <a:pt x="516850" y="56317"/>
                  <a:pt x="407194" y="17502"/>
                </a:cubicBezTo>
                <a:cubicBezTo>
                  <a:pt x="445651" y="79653"/>
                  <a:pt x="471964" y="174308"/>
                  <a:pt x="476131" y="276225"/>
                </a:cubicBezTo>
                <a:lnTo>
                  <a:pt x="608767" y="27622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3111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Browser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3530600"/>
            <a:ext cx="406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 - HTML / CSS / JS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3937000"/>
            <a:ext cx="406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Responsive design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results display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statistics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048000" y="5054600"/>
            <a:ext cx="0" cy="3810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762000" y="5435600"/>
            <a:ext cx="4572000" cy="2921000"/>
          </a:xfrm>
          <a:prstGeom prst="roundRect">
            <a:avLst>
              <a:gd name="adj" fmla="val 6000"/>
            </a:avLst>
          </a:prstGeom>
          <a:solidFill>
            <a:srgbClr val="1A5F70"/>
          </a:solidFill>
          <a:ln/>
        </p:spPr>
      </p:sp>
      <p:sp>
        <p:nvSpPr>
          <p:cNvPr id="18" name="Shape 16"/>
          <p:cNvSpPr/>
          <p:nvPr/>
        </p:nvSpPr>
        <p:spPr>
          <a:xfrm>
            <a:off x="2781300" y="56515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76200" y="38100"/>
                </a:moveTo>
                <a:cubicBezTo>
                  <a:pt x="34171" y="38100"/>
                  <a:pt x="0" y="72271"/>
                  <a:pt x="0" y="114300"/>
                </a:cubicBezTo>
                <a:lnTo>
                  <a:pt x="0" y="190500"/>
                </a:lnTo>
                <a:cubicBezTo>
                  <a:pt x="0" y="232529"/>
                  <a:pt x="34171" y="266700"/>
                  <a:pt x="76200" y="266700"/>
                </a:cubicBezTo>
                <a:lnTo>
                  <a:pt x="457200" y="266700"/>
                </a:lnTo>
                <a:cubicBezTo>
                  <a:pt x="499229" y="266700"/>
                  <a:pt x="533400" y="232529"/>
                  <a:pt x="533400" y="190500"/>
                </a:cubicBezTo>
                <a:lnTo>
                  <a:pt x="533400" y="114300"/>
                </a:lnTo>
                <a:cubicBezTo>
                  <a:pt x="533400" y="72271"/>
                  <a:pt x="499229" y="38100"/>
                  <a:pt x="457200" y="38100"/>
                </a:cubicBezTo>
                <a:lnTo>
                  <a:pt x="76200" y="38100"/>
                </a:lnTo>
                <a:close/>
                <a:moveTo>
                  <a:pt x="333375" y="123825"/>
                </a:moveTo>
                <a:cubicBezTo>
                  <a:pt x="349146" y="123825"/>
                  <a:pt x="361950" y="136629"/>
                  <a:pt x="361950" y="152400"/>
                </a:cubicBezTo>
                <a:cubicBezTo>
                  <a:pt x="361950" y="168171"/>
                  <a:pt x="349146" y="180975"/>
                  <a:pt x="333375" y="180975"/>
                </a:cubicBezTo>
                <a:cubicBezTo>
                  <a:pt x="317604" y="180975"/>
                  <a:pt x="304800" y="168171"/>
                  <a:pt x="304800" y="152400"/>
                </a:cubicBezTo>
                <a:cubicBezTo>
                  <a:pt x="304800" y="136629"/>
                  <a:pt x="317604" y="123825"/>
                  <a:pt x="333375" y="123825"/>
                </a:cubicBezTo>
                <a:close/>
                <a:moveTo>
                  <a:pt x="400050" y="152400"/>
                </a:moveTo>
                <a:cubicBezTo>
                  <a:pt x="400050" y="136629"/>
                  <a:pt x="412854" y="123825"/>
                  <a:pt x="428625" y="123825"/>
                </a:cubicBezTo>
                <a:cubicBezTo>
                  <a:pt x="444396" y="123825"/>
                  <a:pt x="457200" y="136629"/>
                  <a:pt x="457200" y="152400"/>
                </a:cubicBezTo>
                <a:cubicBezTo>
                  <a:pt x="457200" y="168171"/>
                  <a:pt x="444396" y="180975"/>
                  <a:pt x="428625" y="180975"/>
                </a:cubicBezTo>
                <a:cubicBezTo>
                  <a:pt x="412854" y="180975"/>
                  <a:pt x="400050" y="168171"/>
                  <a:pt x="400050" y="152400"/>
                </a:cubicBezTo>
                <a:close/>
                <a:moveTo>
                  <a:pt x="76200" y="342900"/>
                </a:moveTo>
                <a:cubicBezTo>
                  <a:pt x="34171" y="342900"/>
                  <a:pt x="0" y="377071"/>
                  <a:pt x="0" y="419100"/>
                </a:cubicBezTo>
                <a:lnTo>
                  <a:pt x="0" y="495300"/>
                </a:lnTo>
                <a:cubicBezTo>
                  <a:pt x="0" y="537329"/>
                  <a:pt x="34171" y="571500"/>
                  <a:pt x="76200" y="571500"/>
                </a:cubicBezTo>
                <a:lnTo>
                  <a:pt x="457200" y="571500"/>
                </a:lnTo>
                <a:cubicBezTo>
                  <a:pt x="499229" y="571500"/>
                  <a:pt x="533400" y="537329"/>
                  <a:pt x="533400" y="495300"/>
                </a:cubicBezTo>
                <a:lnTo>
                  <a:pt x="533400" y="419100"/>
                </a:lnTo>
                <a:cubicBezTo>
                  <a:pt x="533400" y="377071"/>
                  <a:pt x="499229" y="342900"/>
                  <a:pt x="457200" y="342900"/>
                </a:cubicBezTo>
                <a:lnTo>
                  <a:pt x="76200" y="342900"/>
                </a:lnTo>
                <a:close/>
                <a:moveTo>
                  <a:pt x="333375" y="428625"/>
                </a:moveTo>
                <a:cubicBezTo>
                  <a:pt x="349146" y="428625"/>
                  <a:pt x="361950" y="441429"/>
                  <a:pt x="361950" y="457200"/>
                </a:cubicBezTo>
                <a:cubicBezTo>
                  <a:pt x="361950" y="472971"/>
                  <a:pt x="349146" y="485775"/>
                  <a:pt x="333375" y="485775"/>
                </a:cubicBezTo>
                <a:cubicBezTo>
                  <a:pt x="317604" y="485775"/>
                  <a:pt x="304800" y="472971"/>
                  <a:pt x="304800" y="457200"/>
                </a:cubicBezTo>
                <a:cubicBezTo>
                  <a:pt x="304800" y="441429"/>
                  <a:pt x="317604" y="428625"/>
                  <a:pt x="333375" y="428625"/>
                </a:cubicBezTo>
                <a:close/>
                <a:moveTo>
                  <a:pt x="400050" y="457200"/>
                </a:moveTo>
                <a:cubicBezTo>
                  <a:pt x="400050" y="441429"/>
                  <a:pt x="412854" y="428625"/>
                  <a:pt x="428625" y="428625"/>
                </a:cubicBezTo>
                <a:cubicBezTo>
                  <a:pt x="444396" y="428625"/>
                  <a:pt x="457200" y="441429"/>
                  <a:pt x="457200" y="457200"/>
                </a:cubicBezTo>
                <a:cubicBezTo>
                  <a:pt x="457200" y="472971"/>
                  <a:pt x="444396" y="485775"/>
                  <a:pt x="428625" y="485775"/>
                </a:cubicBezTo>
                <a:cubicBezTo>
                  <a:pt x="412854" y="485775"/>
                  <a:pt x="400050" y="472971"/>
                  <a:pt x="400050" y="4572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6413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Flask Backend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6832600"/>
            <a:ext cx="406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RESTful API Endpoints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6000" y="7239000"/>
            <a:ext cx="406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loaded at startup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validation &amp; error handling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Batch processing support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42000" y="5435600"/>
            <a:ext cx="4572000" cy="2921000"/>
          </a:xfrm>
          <a:prstGeom prst="roundRect">
            <a:avLst>
              <a:gd name="adj" fmla="val 6000"/>
            </a:avLst>
          </a:prstGeom>
          <a:solidFill>
            <a:srgbClr val="D97706"/>
          </a:solidFill>
          <a:ln/>
        </p:spPr>
      </p:sp>
      <p:sp>
        <p:nvSpPr>
          <p:cNvPr id="23" name="Shape 21"/>
          <p:cNvSpPr/>
          <p:nvPr/>
        </p:nvSpPr>
        <p:spPr>
          <a:xfrm>
            <a:off x="7823200" y="5651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42875" y="66675"/>
                </a:moveTo>
                <a:cubicBezTo>
                  <a:pt x="142875" y="29885"/>
                  <a:pt x="172760" y="0"/>
                  <a:pt x="209550" y="0"/>
                </a:cubicBezTo>
                <a:lnTo>
                  <a:pt x="238125" y="0"/>
                </a:lnTo>
                <a:cubicBezTo>
                  <a:pt x="259199" y="0"/>
                  <a:pt x="276225" y="17026"/>
                  <a:pt x="276225" y="38100"/>
                </a:cubicBezTo>
                <a:lnTo>
                  <a:pt x="276225" y="571500"/>
                </a:lnTo>
                <a:cubicBezTo>
                  <a:pt x="276225" y="592574"/>
                  <a:pt x="259199" y="609600"/>
                  <a:pt x="238125" y="609600"/>
                </a:cubicBezTo>
                <a:lnTo>
                  <a:pt x="200025" y="609600"/>
                </a:lnTo>
                <a:cubicBezTo>
                  <a:pt x="164544" y="609600"/>
                  <a:pt x="134660" y="585311"/>
                  <a:pt x="126206" y="552450"/>
                </a:cubicBezTo>
                <a:cubicBezTo>
                  <a:pt x="125373" y="552450"/>
                  <a:pt x="124658" y="552450"/>
                  <a:pt x="123825" y="552450"/>
                </a:cubicBezTo>
                <a:cubicBezTo>
                  <a:pt x="71199" y="552450"/>
                  <a:pt x="28575" y="509826"/>
                  <a:pt x="28575" y="457200"/>
                </a:cubicBezTo>
                <a:cubicBezTo>
                  <a:pt x="28575" y="435769"/>
                  <a:pt x="35719" y="416004"/>
                  <a:pt x="47625" y="400050"/>
                </a:cubicBezTo>
                <a:cubicBezTo>
                  <a:pt x="24527" y="382667"/>
                  <a:pt x="9525" y="355044"/>
                  <a:pt x="9525" y="323850"/>
                </a:cubicBezTo>
                <a:cubicBezTo>
                  <a:pt x="9525" y="287060"/>
                  <a:pt x="30480" y="255032"/>
                  <a:pt x="60960" y="239197"/>
                </a:cubicBezTo>
                <a:cubicBezTo>
                  <a:pt x="52507" y="224909"/>
                  <a:pt x="47625" y="208240"/>
                  <a:pt x="47625" y="190500"/>
                </a:cubicBezTo>
                <a:cubicBezTo>
                  <a:pt x="47625" y="137874"/>
                  <a:pt x="90249" y="95250"/>
                  <a:pt x="142875" y="95250"/>
                </a:cubicBezTo>
                <a:lnTo>
                  <a:pt x="142875" y="66675"/>
                </a:lnTo>
                <a:close/>
                <a:moveTo>
                  <a:pt x="466725" y="66675"/>
                </a:moveTo>
                <a:lnTo>
                  <a:pt x="466725" y="95250"/>
                </a:lnTo>
                <a:cubicBezTo>
                  <a:pt x="519351" y="95250"/>
                  <a:pt x="561975" y="137874"/>
                  <a:pt x="561975" y="190500"/>
                </a:cubicBezTo>
                <a:cubicBezTo>
                  <a:pt x="561975" y="208359"/>
                  <a:pt x="557093" y="225028"/>
                  <a:pt x="548640" y="239197"/>
                </a:cubicBezTo>
                <a:cubicBezTo>
                  <a:pt x="579239" y="255032"/>
                  <a:pt x="600075" y="286941"/>
                  <a:pt x="600075" y="323850"/>
                </a:cubicBezTo>
                <a:cubicBezTo>
                  <a:pt x="600075" y="355044"/>
                  <a:pt x="585073" y="382667"/>
                  <a:pt x="561975" y="400050"/>
                </a:cubicBezTo>
                <a:cubicBezTo>
                  <a:pt x="573881" y="416004"/>
                  <a:pt x="581025" y="435769"/>
                  <a:pt x="581025" y="457200"/>
                </a:cubicBezTo>
                <a:cubicBezTo>
                  <a:pt x="581025" y="509826"/>
                  <a:pt x="538401" y="552450"/>
                  <a:pt x="485775" y="552450"/>
                </a:cubicBezTo>
                <a:cubicBezTo>
                  <a:pt x="484942" y="552450"/>
                  <a:pt x="484227" y="552450"/>
                  <a:pt x="483394" y="552450"/>
                </a:cubicBezTo>
                <a:cubicBezTo>
                  <a:pt x="474940" y="585311"/>
                  <a:pt x="445056" y="609600"/>
                  <a:pt x="409575" y="609600"/>
                </a:cubicBezTo>
                <a:lnTo>
                  <a:pt x="371475" y="609600"/>
                </a:lnTo>
                <a:cubicBezTo>
                  <a:pt x="350401" y="609600"/>
                  <a:pt x="333375" y="592574"/>
                  <a:pt x="333375" y="571500"/>
                </a:cubicBezTo>
                <a:lnTo>
                  <a:pt x="333375" y="38100"/>
                </a:lnTo>
                <a:cubicBezTo>
                  <a:pt x="333375" y="17026"/>
                  <a:pt x="350401" y="0"/>
                  <a:pt x="371475" y="0"/>
                </a:cubicBezTo>
                <a:lnTo>
                  <a:pt x="400050" y="0"/>
                </a:lnTo>
                <a:cubicBezTo>
                  <a:pt x="436840" y="0"/>
                  <a:pt x="466725" y="29885"/>
                  <a:pt x="466725" y="666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096000" y="6413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BERT Model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96000" y="6832600"/>
            <a:ext cx="406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PyTorch + Hugging Face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96000" y="7239000"/>
            <a:ext cx="406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transformer layers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GPU acceleration (CUDA)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Sigmoid probability output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334000" y="6896100"/>
            <a:ext cx="508000" cy="0"/>
          </a:xfrm>
          <a:prstGeom prst="straightConnector1">
            <a:avLst/>
          </a:prstGeom>
          <a:noFill/>
          <a:ln w="25400">
            <a:solidFill>
              <a:srgbClr val="0F4C5C"/>
            </a:solidFill>
            <a:prstDash val="solid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10922000" y="2133600"/>
            <a:ext cx="4572000" cy="622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11176000" y="2349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Flow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2446000" y="2768600"/>
            <a:ext cx="1524000" cy="25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11239500" y="2984500"/>
            <a:ext cx="3937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User enters comment in web UI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Frontend sends POST request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Text is cleaned &amp; normalized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Text converted to token IDs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BERT processes the tokens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Output → toxicity score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7.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JSON response to frontend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8.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Result shown with visual indicators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2000" y="85344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Deployment: Google Colab + ngrok tunneling | GPU: NVIDIA T4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dxv4hoehigcay/mnt/agents/output/toxic-comment-detector/images/7_Digital_Network_with_Glowing_Nodes.png">    </p:cNvPr>
          <p:cNvPicPr>
            <a:picLocks noChangeAspect="1"/>
          </p:cNvPicPr>
          <p:nvPr/>
        </p:nvPicPr>
        <p:blipFill>
          <a:blip r:embed="rId1"/>
          <a:srcRect l="0" r="0" t="766" b="766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4C5C">
                  <a:alpha val="95000"/>
                </a:srgbClr>
              </a:gs>
              <a:gs pos="55000">
                <a:srgbClr val="0F4C5C">
                  <a:alpha val="88000"/>
                </a:srgbClr>
              </a:gs>
              <a:gs pos="100000">
                <a:srgbClr val="0F4C5C">
                  <a:alpha val="6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286000"/>
            <a:ext cx="381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FFFFFF">
                    <a:alpha val="12549"/>
                  </a:srgbClr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16000" y="4064000"/>
            <a:ext cx="101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43815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5143500"/>
            <a:ext cx="698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the end-to-end toxic comment detection system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&amp;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&amp; Methodology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525000" y="469900"/>
            <a:ext cx="127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Text Preprocessing Pipeline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62000" y="13081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524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6-Step Preprocessing Pipeline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68500"/>
          <a:ext cx="7366000" cy="3556000"/>
        </p:xfrm>
        <a:graphic>
          <a:graphicData uri="http://schemas.openxmlformats.org/drawingml/2006/table">
            <a:tbl>
              <a:tblPr/>
              <a:tblGrid>
                <a:gridCol w="589280"/>
                <a:gridCol w="2062480"/>
                <a:gridCol w="2357120"/>
                <a:gridCol w="235712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#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Step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Operation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Lowercasing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Convert to lowercase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"Hello" → "hello"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URL Removal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Replace URLs with [URL]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"https://..." → "[URL]"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Mention Removal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Replace @user with [USER]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"@name" → "[USER]"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Punctuation Removal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Strip punctuation marks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"Hello!!!" → "Hello"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Repetition Handling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Normalize repeated chars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"soooo" → "so"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Whitespace Cleaning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&lt;p&gt;&lt;span&gt;&lt;/span&gt;&lt;/p&gt;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Cleaned text output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762000" y="57785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Extraction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6248400"/>
            <a:ext cx="2349500" cy="1016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14" name="Shape 11"/>
          <p:cNvSpPr/>
          <p:nvPr/>
        </p:nvSpPr>
        <p:spPr>
          <a:xfrm>
            <a:off x="1774825" y="6350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7781" y="0"/>
                </a:moveTo>
                <a:cubicBezTo>
                  <a:pt x="12432" y="0"/>
                  <a:pt x="0" y="12432"/>
                  <a:pt x="0" y="27781"/>
                </a:cubicBezTo>
                <a:lnTo>
                  <a:pt x="0" y="66675"/>
                </a:lnTo>
                <a:cubicBezTo>
                  <a:pt x="0" y="78968"/>
                  <a:pt x="9932" y="88900"/>
                  <a:pt x="22225" y="88900"/>
                </a:cubicBezTo>
                <a:cubicBezTo>
                  <a:pt x="34518" y="88900"/>
                  <a:pt x="44450" y="78968"/>
                  <a:pt x="44450" y="66675"/>
                </a:cubicBezTo>
                <a:lnTo>
                  <a:pt x="44450" y="44450"/>
                </a:lnTo>
                <a:lnTo>
                  <a:pt x="133350" y="44450"/>
                </a:lnTo>
                <a:lnTo>
                  <a:pt x="133350" y="155575"/>
                </a:lnTo>
                <a:lnTo>
                  <a:pt x="111125" y="155575"/>
                </a:lnTo>
                <a:cubicBezTo>
                  <a:pt x="98832" y="155575"/>
                  <a:pt x="88900" y="165507"/>
                  <a:pt x="88900" y="177800"/>
                </a:cubicBezTo>
                <a:cubicBezTo>
                  <a:pt x="88900" y="190093"/>
                  <a:pt x="98832" y="200025"/>
                  <a:pt x="111125" y="200025"/>
                </a:cubicBezTo>
                <a:lnTo>
                  <a:pt x="200025" y="200025"/>
                </a:lnTo>
                <a:cubicBezTo>
                  <a:pt x="212318" y="200025"/>
                  <a:pt x="222250" y="190093"/>
                  <a:pt x="222250" y="177800"/>
                </a:cubicBezTo>
                <a:cubicBezTo>
                  <a:pt x="222250" y="165507"/>
                  <a:pt x="212318" y="155575"/>
                  <a:pt x="200025" y="155575"/>
                </a:cubicBezTo>
                <a:lnTo>
                  <a:pt x="177800" y="155575"/>
                </a:lnTo>
                <a:lnTo>
                  <a:pt x="177800" y="44450"/>
                </a:lnTo>
                <a:lnTo>
                  <a:pt x="266700" y="44450"/>
                </a:lnTo>
                <a:lnTo>
                  <a:pt x="266700" y="66675"/>
                </a:lnTo>
                <a:cubicBezTo>
                  <a:pt x="266700" y="78968"/>
                  <a:pt x="276632" y="88900"/>
                  <a:pt x="288925" y="88900"/>
                </a:cubicBezTo>
                <a:cubicBezTo>
                  <a:pt x="301218" y="88900"/>
                  <a:pt x="311150" y="78968"/>
                  <a:pt x="311150" y="66675"/>
                </a:cubicBezTo>
                <a:lnTo>
                  <a:pt x="311150" y="27781"/>
                </a:lnTo>
                <a:cubicBezTo>
                  <a:pt x="311150" y="12432"/>
                  <a:pt x="298718" y="0"/>
                  <a:pt x="283369" y="0"/>
                </a:cubicBezTo>
                <a:lnTo>
                  <a:pt x="27781" y="0"/>
                </a:lnTo>
                <a:close/>
                <a:moveTo>
                  <a:pt x="82371" y="282396"/>
                </a:moveTo>
                <a:cubicBezTo>
                  <a:pt x="91053" y="273715"/>
                  <a:pt x="91053" y="259616"/>
                  <a:pt x="82371" y="250934"/>
                </a:cubicBezTo>
                <a:cubicBezTo>
                  <a:pt x="73690" y="242253"/>
                  <a:pt x="59591" y="242253"/>
                  <a:pt x="50909" y="250934"/>
                </a:cubicBezTo>
                <a:lnTo>
                  <a:pt x="6459" y="295384"/>
                </a:lnTo>
                <a:cubicBezTo>
                  <a:pt x="-2223" y="304066"/>
                  <a:pt x="-2223" y="318165"/>
                  <a:pt x="6459" y="326846"/>
                </a:cubicBezTo>
                <a:lnTo>
                  <a:pt x="50909" y="371296"/>
                </a:lnTo>
                <a:cubicBezTo>
                  <a:pt x="59591" y="379978"/>
                  <a:pt x="73690" y="379978"/>
                  <a:pt x="82371" y="371296"/>
                </a:cubicBezTo>
                <a:cubicBezTo>
                  <a:pt x="91053" y="362615"/>
                  <a:pt x="91053" y="348516"/>
                  <a:pt x="82371" y="339834"/>
                </a:cubicBezTo>
                <a:lnTo>
                  <a:pt x="75843" y="333306"/>
                </a:lnTo>
                <a:lnTo>
                  <a:pt x="235238" y="333306"/>
                </a:lnTo>
                <a:lnTo>
                  <a:pt x="228709" y="339834"/>
                </a:lnTo>
                <a:cubicBezTo>
                  <a:pt x="220028" y="348516"/>
                  <a:pt x="220028" y="362615"/>
                  <a:pt x="228709" y="371296"/>
                </a:cubicBezTo>
                <a:cubicBezTo>
                  <a:pt x="237391" y="379978"/>
                  <a:pt x="251490" y="379978"/>
                  <a:pt x="260171" y="371296"/>
                </a:cubicBezTo>
                <a:lnTo>
                  <a:pt x="304621" y="326846"/>
                </a:lnTo>
                <a:cubicBezTo>
                  <a:pt x="313303" y="318165"/>
                  <a:pt x="313303" y="304066"/>
                  <a:pt x="304621" y="295384"/>
                </a:cubicBezTo>
                <a:lnTo>
                  <a:pt x="260171" y="250934"/>
                </a:lnTo>
                <a:cubicBezTo>
                  <a:pt x="251490" y="242253"/>
                  <a:pt x="237391" y="242253"/>
                  <a:pt x="228709" y="250934"/>
                </a:cubicBezTo>
                <a:cubicBezTo>
                  <a:pt x="220028" y="259616"/>
                  <a:pt x="220028" y="273715"/>
                  <a:pt x="228709" y="282396"/>
                </a:cubicBezTo>
                <a:lnTo>
                  <a:pt x="235238" y="288925"/>
                </a:lnTo>
                <a:lnTo>
                  <a:pt x="75843" y="288925"/>
                </a:lnTo>
                <a:lnTo>
                  <a:pt x="82371" y="282396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5" name="Text 12"/>
          <p:cNvSpPr/>
          <p:nvPr/>
        </p:nvSpPr>
        <p:spPr>
          <a:xfrm>
            <a:off x="863600" y="67564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 Length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276600" y="6248400"/>
            <a:ext cx="2349500" cy="1016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17" name="Shape 14"/>
          <p:cNvSpPr/>
          <p:nvPr/>
        </p:nvSpPr>
        <p:spPr>
          <a:xfrm>
            <a:off x="4267200" y="635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8011" y="35213"/>
                </a:moveTo>
                <a:cubicBezTo>
                  <a:pt x="194399" y="27295"/>
                  <a:pt x="186482" y="22225"/>
                  <a:pt x="177800" y="22225"/>
                </a:cubicBezTo>
                <a:cubicBezTo>
                  <a:pt x="169118" y="22225"/>
                  <a:pt x="161201" y="27295"/>
                  <a:pt x="157589" y="35213"/>
                </a:cubicBezTo>
                <a:lnTo>
                  <a:pt x="41325" y="288925"/>
                </a:lnTo>
                <a:lnTo>
                  <a:pt x="33337" y="288925"/>
                </a:lnTo>
                <a:cubicBezTo>
                  <a:pt x="21044" y="288925"/>
                  <a:pt x="11112" y="298857"/>
                  <a:pt x="11112" y="311150"/>
                </a:cubicBezTo>
                <a:cubicBezTo>
                  <a:pt x="11112" y="323443"/>
                  <a:pt x="21044" y="333375"/>
                  <a:pt x="33337" y="333375"/>
                </a:cubicBezTo>
                <a:lnTo>
                  <a:pt x="94456" y="333375"/>
                </a:lnTo>
                <a:cubicBezTo>
                  <a:pt x="106749" y="333375"/>
                  <a:pt x="116681" y="323443"/>
                  <a:pt x="116681" y="311150"/>
                </a:cubicBezTo>
                <a:cubicBezTo>
                  <a:pt x="116681" y="298857"/>
                  <a:pt x="106749" y="288925"/>
                  <a:pt x="94456" y="288925"/>
                </a:cubicBezTo>
                <a:lnTo>
                  <a:pt x="90220" y="288925"/>
                </a:lnTo>
                <a:lnTo>
                  <a:pt x="105499" y="255587"/>
                </a:lnTo>
                <a:lnTo>
                  <a:pt x="250170" y="255587"/>
                </a:lnTo>
                <a:lnTo>
                  <a:pt x="265450" y="288925"/>
                </a:lnTo>
                <a:lnTo>
                  <a:pt x="261213" y="288925"/>
                </a:lnTo>
                <a:cubicBezTo>
                  <a:pt x="248920" y="288925"/>
                  <a:pt x="238988" y="298857"/>
                  <a:pt x="238988" y="311150"/>
                </a:cubicBezTo>
                <a:cubicBezTo>
                  <a:pt x="238988" y="323443"/>
                  <a:pt x="248920" y="333375"/>
                  <a:pt x="261213" y="333375"/>
                </a:cubicBezTo>
                <a:lnTo>
                  <a:pt x="322332" y="333375"/>
                </a:lnTo>
                <a:cubicBezTo>
                  <a:pt x="334625" y="333375"/>
                  <a:pt x="344557" y="323443"/>
                  <a:pt x="344557" y="311150"/>
                </a:cubicBezTo>
                <a:cubicBezTo>
                  <a:pt x="344557" y="298857"/>
                  <a:pt x="334625" y="288925"/>
                  <a:pt x="322332" y="288925"/>
                </a:cubicBezTo>
                <a:lnTo>
                  <a:pt x="314345" y="288925"/>
                </a:lnTo>
                <a:lnTo>
                  <a:pt x="198080" y="35213"/>
                </a:lnTo>
                <a:close/>
                <a:moveTo>
                  <a:pt x="229751" y="211138"/>
                </a:moveTo>
                <a:lnTo>
                  <a:pt x="125849" y="211138"/>
                </a:lnTo>
                <a:lnTo>
                  <a:pt x="177800" y="97790"/>
                </a:lnTo>
                <a:lnTo>
                  <a:pt x="229751" y="211138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8" name="Text 15"/>
          <p:cNvSpPr/>
          <p:nvPr/>
        </p:nvSpPr>
        <p:spPr>
          <a:xfrm>
            <a:off x="3378200" y="67564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Word Count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791200" y="6248400"/>
            <a:ext cx="2349500" cy="1016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20" name="Shape 17"/>
          <p:cNvSpPr/>
          <p:nvPr/>
        </p:nvSpPr>
        <p:spPr>
          <a:xfrm>
            <a:off x="6915150" y="6350000"/>
            <a:ext cx="88900" cy="355600"/>
          </a:xfrm>
          <a:custGeom>
            <a:avLst/>
            <a:gdLst/>
            <a:ahLst/>
            <a:cxnLst/>
            <a:rect l="l" t="t" r="r" b="b"/>
            <a:pathLst>
              <a:path w="88900" h="355600">
                <a:moveTo>
                  <a:pt x="66675" y="22225"/>
                </a:moveTo>
                <a:cubicBezTo>
                  <a:pt x="66675" y="9932"/>
                  <a:pt x="56743" y="0"/>
                  <a:pt x="44450" y="0"/>
                </a:cubicBezTo>
                <a:cubicBezTo>
                  <a:pt x="32157" y="0"/>
                  <a:pt x="22225" y="9932"/>
                  <a:pt x="22225" y="22225"/>
                </a:cubicBezTo>
                <a:lnTo>
                  <a:pt x="22225" y="244475"/>
                </a:lnTo>
                <a:cubicBezTo>
                  <a:pt x="22225" y="256768"/>
                  <a:pt x="32157" y="266700"/>
                  <a:pt x="44450" y="266700"/>
                </a:cubicBezTo>
                <a:cubicBezTo>
                  <a:pt x="56743" y="266700"/>
                  <a:pt x="66675" y="256768"/>
                  <a:pt x="66675" y="244475"/>
                </a:cubicBezTo>
                <a:lnTo>
                  <a:pt x="66675" y="22225"/>
                </a:lnTo>
                <a:close/>
                <a:moveTo>
                  <a:pt x="44450" y="355600"/>
                </a:moveTo>
                <a:cubicBezTo>
                  <a:pt x="59799" y="355600"/>
                  <a:pt x="72231" y="343168"/>
                  <a:pt x="72231" y="327819"/>
                </a:cubicBezTo>
                <a:cubicBezTo>
                  <a:pt x="72231" y="312470"/>
                  <a:pt x="59799" y="300038"/>
                  <a:pt x="44450" y="300038"/>
                </a:cubicBezTo>
                <a:cubicBezTo>
                  <a:pt x="29101" y="300038"/>
                  <a:pt x="16669" y="312470"/>
                  <a:pt x="16669" y="327819"/>
                </a:cubicBezTo>
                <a:cubicBezTo>
                  <a:pt x="16669" y="343168"/>
                  <a:pt x="29101" y="355600"/>
                  <a:pt x="44450" y="3556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1" name="Text 18"/>
          <p:cNvSpPr/>
          <p:nvPr/>
        </p:nvSpPr>
        <p:spPr>
          <a:xfrm>
            <a:off x="5892800" y="67564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Capital Ratio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62000" y="7429500"/>
            <a:ext cx="3556000" cy="1016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2387600" y="7531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4" name="Text 21"/>
          <p:cNvSpPr/>
          <p:nvPr/>
        </p:nvSpPr>
        <p:spPr>
          <a:xfrm>
            <a:off x="863600" y="7937500"/>
            <a:ext cx="3352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Exclamation Count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584700" y="7429500"/>
            <a:ext cx="3556000" cy="1016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26" name="Shape 23"/>
          <p:cNvSpPr/>
          <p:nvPr/>
        </p:nvSpPr>
        <p:spPr>
          <a:xfrm>
            <a:off x="6210300" y="7531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55032" y="286494"/>
                </a:moveTo>
                <a:lnTo>
                  <a:pt x="69106" y="100568"/>
                </a:lnTo>
                <a:cubicBezTo>
                  <a:pt x="53548" y="122376"/>
                  <a:pt x="44450" y="149046"/>
                  <a:pt x="44450" y="177800"/>
                </a:cubicBezTo>
                <a:cubicBezTo>
                  <a:pt x="44450" y="251420"/>
                  <a:pt x="104180" y="311150"/>
                  <a:pt x="177800" y="311150"/>
                </a:cubicBezTo>
                <a:cubicBezTo>
                  <a:pt x="206623" y="311150"/>
                  <a:pt x="233293" y="302052"/>
                  <a:pt x="255032" y="286494"/>
                </a:cubicBezTo>
                <a:close/>
                <a:moveTo>
                  <a:pt x="286494" y="255032"/>
                </a:moveTo>
                <a:cubicBezTo>
                  <a:pt x="302052" y="233224"/>
                  <a:pt x="311150" y="206554"/>
                  <a:pt x="311150" y="177800"/>
                </a:cubicBezTo>
                <a:cubicBezTo>
                  <a:pt x="311150" y="104180"/>
                  <a:pt x="251420" y="44450"/>
                  <a:pt x="177800" y="44450"/>
                </a:cubicBezTo>
                <a:cubicBezTo>
                  <a:pt x="148977" y="44450"/>
                  <a:pt x="122307" y="53548"/>
                  <a:pt x="100568" y="69106"/>
                </a:cubicBezTo>
                <a:lnTo>
                  <a:pt x="286494" y="255032"/>
                </a:ln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7" name="Text 24"/>
          <p:cNvSpPr/>
          <p:nvPr/>
        </p:nvSpPr>
        <p:spPr>
          <a:xfrm>
            <a:off x="4686300" y="7937500"/>
            <a:ext cx="3352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Profanity Score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636000" y="1524000"/>
            <a:ext cx="6858000" cy="69215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29" name="Text 26"/>
          <p:cNvSpPr/>
          <p:nvPr/>
        </p:nvSpPr>
        <p:spPr>
          <a:xfrm>
            <a:off x="9017000" y="17780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 / After Examples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10541000" y="2197100"/>
            <a:ext cx="3048000" cy="254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1" name="Text 28"/>
          <p:cNvSpPr/>
          <p:nvPr/>
        </p:nvSpPr>
        <p:spPr>
          <a:xfrm>
            <a:off x="9017000" y="2413000"/>
            <a:ext cx="609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 1 - Clean Text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9017000" y="276860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Before: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 love this project"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9017000" y="314960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After: </a:t>
            </a:r>
            <a:pPr>
              <a:lnSpc>
                <a:spcPct val="100000"/>
              </a:lnSpc>
            </a:pPr>
            <a:r>
              <a:rPr lang="en-US" sz="1400" b="1" dirty="0">
                <a:solidFill>
                  <a:srgbClr val="0596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 love this project"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017000" y="3746500"/>
            <a:ext cx="609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 2 - With URL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9017000" y="410210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Before: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"Check https://example.com"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9017000" y="448310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After: </a:t>
            </a:r>
            <a:pPr>
              <a:lnSpc>
                <a:spcPct val="100000"/>
              </a:lnSpc>
            </a:pPr>
            <a:r>
              <a:rPr lang="en-US" sz="1400" b="1" dirty="0">
                <a:solidFill>
                  <a:srgbClr val="0596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"check [URL]"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9017000" y="5080000"/>
            <a:ext cx="609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 3 - With Mention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9017000" y="543560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Before: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"@username you are wrong"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9017000" y="581660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After: </a:t>
            </a:r>
            <a:pPr>
              <a:lnSpc>
                <a:spcPct val="100000"/>
              </a:lnSpc>
            </a:pPr>
            <a:r>
              <a:rPr lang="en-US" sz="1400" b="1" dirty="0">
                <a:solidFill>
                  <a:srgbClr val="0596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"[USER] you are wrong"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9017000" y="6413500"/>
            <a:ext cx="609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 4 - Repetition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9017000" y="676910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Before: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"soooo stupid!!!"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9017000" y="715010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After: </a:t>
            </a:r>
            <a:pPr>
              <a:lnSpc>
                <a:spcPct val="100000"/>
              </a:lnSpc>
            </a:pPr>
            <a:r>
              <a:rPr lang="en-US" sz="1400" b="1" dirty="0">
                <a:solidFill>
                  <a:srgbClr val="0596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"so stupid"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&amp;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&amp; Methodology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525000" y="469900"/>
            <a:ext cx="127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7366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API &amp; Frontend Design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62000" y="13081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524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RESTful API Endpoints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68500"/>
          <a:ext cx="7239000" cy="2667000"/>
        </p:xfrm>
        <a:graphic>
          <a:graphicData uri="http://schemas.openxmlformats.org/drawingml/2006/table">
            <a:tbl>
              <a:tblPr/>
              <a:tblGrid>
                <a:gridCol w="2026920"/>
                <a:gridCol w="1230630"/>
                <a:gridCol w="3981450"/>
              </a:tblGrid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Endpoint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Method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/predict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Analyze a single comment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/batch_predict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Analyze multiple comments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/dashboard_stats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Get real-time statistics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/health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Health check endpoint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762000" y="4889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 Technologies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5334000"/>
            <a:ext cx="1714500" cy="889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14" name="Text 11"/>
          <p:cNvSpPr/>
          <p:nvPr/>
        </p:nvSpPr>
        <p:spPr>
          <a:xfrm>
            <a:off x="762000" y="5334000"/>
            <a:ext cx="17145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Flask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603500" y="5334000"/>
            <a:ext cx="1714500" cy="889000"/>
          </a:xfrm>
          <a:prstGeom prst="roundRect">
            <a:avLst>
              <a:gd name="adj" fmla="val 8000"/>
            </a:avLst>
          </a:prstGeom>
          <a:solidFill>
            <a:srgbClr val="1A5F70"/>
          </a:solidFill>
          <a:ln/>
        </p:spPr>
      </p:sp>
      <p:sp>
        <p:nvSpPr>
          <p:cNvPr id="16" name="Text 13"/>
          <p:cNvSpPr/>
          <p:nvPr/>
        </p:nvSpPr>
        <p:spPr>
          <a:xfrm>
            <a:off x="2603500" y="5334000"/>
            <a:ext cx="17145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Flask-CORS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445000" y="5334000"/>
            <a:ext cx="1714500" cy="889000"/>
          </a:xfrm>
          <a:prstGeom prst="roundRect">
            <a:avLst>
              <a:gd name="adj" fmla="val 8000"/>
            </a:avLst>
          </a:prstGeom>
          <a:solidFill>
            <a:srgbClr val="257485"/>
          </a:solidFill>
          <a:ln/>
        </p:spPr>
      </p:sp>
      <p:sp>
        <p:nvSpPr>
          <p:cNvPr id="18" name="Text 15"/>
          <p:cNvSpPr/>
          <p:nvPr/>
        </p:nvSpPr>
        <p:spPr>
          <a:xfrm>
            <a:off x="4445000" y="5334000"/>
            <a:ext cx="17145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PyTorch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286500" y="5334000"/>
            <a:ext cx="1714500" cy="8890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20" name="Text 17"/>
          <p:cNvSpPr/>
          <p:nvPr/>
        </p:nvSpPr>
        <p:spPr>
          <a:xfrm>
            <a:off x="6286500" y="5334000"/>
            <a:ext cx="17145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ngrok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62000" y="6477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Sample API Response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62000" y="6921500"/>
            <a:ext cx="7239000" cy="1524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23" name="Text 20"/>
          <p:cNvSpPr/>
          <p:nvPr/>
        </p:nvSpPr>
        <p:spPr>
          <a:xfrm>
            <a:off x="1016000" y="7048500"/>
            <a:ext cx="673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{ "toxicity_score": </a:t>
            </a:r>
            <a:pPr>
              <a:lnSpc>
                <a:spcPct val="150000"/>
              </a:lnSpc>
            </a:pPr>
            <a:r>
              <a:rPr lang="en-US" sz="1300" b="1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0.8923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"is_toxic": </a:t>
            </a:r>
            <a:pPr>
              <a:lnSpc>
                <a:spcPct val="150000"/>
              </a:lnSpc>
            </a:pPr>
            <a:r>
              <a:rPr lang="en-US" sz="1300" b="1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"label": </a:t>
            </a:r>
            <a:pPr>
              <a:lnSpc>
                <a:spcPct val="150000"/>
              </a:lnSpc>
            </a:pPr>
            <a:r>
              <a:rPr lang="en-US" sz="1300" b="1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"TOXIC"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"confidence": 0.8923 }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509000" y="1524000"/>
            <a:ext cx="6985000" cy="69215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25" name="Text 22"/>
          <p:cNvSpPr/>
          <p:nvPr/>
        </p:nvSpPr>
        <p:spPr>
          <a:xfrm>
            <a:off x="8890000" y="17780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 UI/UX Design Principles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0541000" y="2197100"/>
            <a:ext cx="2921000" cy="254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7" name="Shape 24"/>
          <p:cNvSpPr/>
          <p:nvPr/>
        </p:nvSpPr>
        <p:spPr>
          <a:xfrm>
            <a:off x="9004300" y="24765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12700" y="50800"/>
                </a:moveTo>
                <a:cubicBezTo>
                  <a:pt x="12700" y="22781"/>
                  <a:pt x="35481" y="0"/>
                  <a:pt x="63500" y="0"/>
                </a:cubicBezTo>
                <a:lnTo>
                  <a:pt x="241300" y="0"/>
                </a:lnTo>
                <a:cubicBezTo>
                  <a:pt x="269319" y="0"/>
                  <a:pt x="292100" y="22781"/>
                  <a:pt x="292100" y="50800"/>
                </a:cubicBezTo>
                <a:lnTo>
                  <a:pt x="292100" y="355600"/>
                </a:lnTo>
                <a:cubicBezTo>
                  <a:pt x="292100" y="383619"/>
                  <a:pt x="269319" y="406400"/>
                  <a:pt x="241300" y="406400"/>
                </a:cubicBezTo>
                <a:lnTo>
                  <a:pt x="63500" y="406400"/>
                </a:lnTo>
                <a:cubicBezTo>
                  <a:pt x="35481" y="406400"/>
                  <a:pt x="12700" y="383619"/>
                  <a:pt x="12700" y="355600"/>
                </a:cubicBezTo>
                <a:lnTo>
                  <a:pt x="12700" y="50800"/>
                </a:lnTo>
                <a:close/>
                <a:moveTo>
                  <a:pt x="101600" y="349250"/>
                </a:moveTo>
                <a:cubicBezTo>
                  <a:pt x="101600" y="359807"/>
                  <a:pt x="110093" y="368300"/>
                  <a:pt x="120650" y="368300"/>
                </a:cubicBezTo>
                <a:lnTo>
                  <a:pt x="184150" y="368300"/>
                </a:lnTo>
                <a:cubicBezTo>
                  <a:pt x="194707" y="368300"/>
                  <a:pt x="203200" y="359807"/>
                  <a:pt x="203200" y="349250"/>
                </a:cubicBezTo>
                <a:cubicBezTo>
                  <a:pt x="203200" y="338693"/>
                  <a:pt x="194707" y="330200"/>
                  <a:pt x="184150" y="330200"/>
                </a:cubicBezTo>
                <a:lnTo>
                  <a:pt x="120650" y="330200"/>
                </a:lnTo>
                <a:cubicBezTo>
                  <a:pt x="110093" y="330200"/>
                  <a:pt x="101600" y="338693"/>
                  <a:pt x="101600" y="349250"/>
                </a:cubicBezTo>
                <a:close/>
                <a:moveTo>
                  <a:pt x="241300" y="50800"/>
                </a:moveTo>
                <a:lnTo>
                  <a:pt x="63500" y="50800"/>
                </a:lnTo>
                <a:lnTo>
                  <a:pt x="63500" y="292100"/>
                </a:lnTo>
                <a:lnTo>
                  <a:pt x="241300" y="292100"/>
                </a:lnTo>
                <a:lnTo>
                  <a:pt x="241300" y="5080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8" name="Text 25"/>
          <p:cNvSpPr/>
          <p:nvPr/>
        </p:nvSpPr>
        <p:spPr>
          <a:xfrm>
            <a:off x="9525000" y="2438400"/>
            <a:ext cx="558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Responsive Design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9525000" y="2768600"/>
            <a:ext cx="558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 seamlessly on all screen sizes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8978900" y="3429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268923" y="-7858"/>
                </a:moveTo>
                <a:cubicBezTo>
                  <a:pt x="278368" y="-1032"/>
                  <a:pt x="281861" y="11351"/>
                  <a:pt x="277574" y="22146"/>
                </a:cubicBezTo>
                <a:lnTo>
                  <a:pt x="215344" y="177800"/>
                </a:lnTo>
                <a:lnTo>
                  <a:pt x="330200" y="177800"/>
                </a:lnTo>
                <a:cubicBezTo>
                  <a:pt x="340916" y="177800"/>
                  <a:pt x="350441" y="184468"/>
                  <a:pt x="354092" y="194548"/>
                </a:cubicBezTo>
                <a:cubicBezTo>
                  <a:pt x="357743" y="204629"/>
                  <a:pt x="354648" y="215900"/>
                  <a:pt x="346472" y="222726"/>
                </a:cubicBezTo>
                <a:lnTo>
                  <a:pt x="117872" y="413226"/>
                </a:lnTo>
                <a:cubicBezTo>
                  <a:pt x="108903" y="420688"/>
                  <a:pt x="96123" y="421084"/>
                  <a:pt x="86678" y="414258"/>
                </a:cubicBezTo>
                <a:cubicBezTo>
                  <a:pt x="77232" y="407432"/>
                  <a:pt x="73739" y="395049"/>
                  <a:pt x="78026" y="384254"/>
                </a:cubicBezTo>
                <a:lnTo>
                  <a:pt x="140256" y="228600"/>
                </a:lnTo>
                <a:lnTo>
                  <a:pt x="25400" y="228600"/>
                </a:lnTo>
                <a:cubicBezTo>
                  <a:pt x="14684" y="228600"/>
                  <a:pt x="5159" y="221933"/>
                  <a:pt x="1508" y="211852"/>
                </a:cubicBezTo>
                <a:cubicBezTo>
                  <a:pt x="-2143" y="201771"/>
                  <a:pt x="952" y="190500"/>
                  <a:pt x="9128" y="183674"/>
                </a:cubicBezTo>
                <a:lnTo>
                  <a:pt x="237728" y="-6826"/>
                </a:lnTo>
                <a:cubicBezTo>
                  <a:pt x="246698" y="-14288"/>
                  <a:pt x="259477" y="-14684"/>
                  <a:pt x="268923" y="-7858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1" name="Text 28"/>
          <p:cNvSpPr/>
          <p:nvPr/>
        </p:nvSpPr>
        <p:spPr>
          <a:xfrm>
            <a:off x="9525000" y="3390900"/>
            <a:ext cx="558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Feedback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9525000" y="3721100"/>
            <a:ext cx="558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results without page refresh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8928100" y="4381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28600" y="25400"/>
                </a:moveTo>
                <a:cubicBezTo>
                  <a:pt x="164465" y="25400"/>
                  <a:pt x="113109" y="54610"/>
                  <a:pt x="75724" y="89376"/>
                </a:cubicBezTo>
                <a:cubicBezTo>
                  <a:pt x="38576" y="123904"/>
                  <a:pt x="13732" y="165100"/>
                  <a:pt x="1905" y="193437"/>
                </a:cubicBezTo>
                <a:cubicBezTo>
                  <a:pt x="-714" y="199708"/>
                  <a:pt x="-714" y="206692"/>
                  <a:pt x="1905" y="212963"/>
                </a:cubicBezTo>
                <a:cubicBezTo>
                  <a:pt x="13732" y="241300"/>
                  <a:pt x="38576" y="282575"/>
                  <a:pt x="75724" y="317024"/>
                </a:cubicBezTo>
                <a:cubicBezTo>
                  <a:pt x="113109" y="351711"/>
                  <a:pt x="164465" y="381000"/>
                  <a:pt x="228600" y="381000"/>
                </a:cubicBezTo>
                <a:cubicBezTo>
                  <a:pt x="292735" y="381000"/>
                  <a:pt x="344091" y="351790"/>
                  <a:pt x="381476" y="317024"/>
                </a:cubicBezTo>
                <a:cubicBezTo>
                  <a:pt x="418624" y="282496"/>
                  <a:pt x="443468" y="241300"/>
                  <a:pt x="455295" y="212963"/>
                </a:cubicBezTo>
                <a:cubicBezTo>
                  <a:pt x="457914" y="206692"/>
                  <a:pt x="457914" y="199707"/>
                  <a:pt x="455295" y="193437"/>
                </a:cubicBezTo>
                <a:cubicBezTo>
                  <a:pt x="443468" y="165100"/>
                  <a:pt x="418624" y="123825"/>
                  <a:pt x="381476" y="89376"/>
                </a:cubicBezTo>
                <a:cubicBezTo>
                  <a:pt x="344091" y="54689"/>
                  <a:pt x="292735" y="25400"/>
                  <a:pt x="228600" y="25400"/>
                </a:cubicBezTo>
                <a:close/>
                <a:moveTo>
                  <a:pt x="114300" y="203200"/>
                </a:moveTo>
                <a:cubicBezTo>
                  <a:pt x="114300" y="140116"/>
                  <a:pt x="165516" y="88900"/>
                  <a:pt x="228600" y="88900"/>
                </a:cubicBezTo>
                <a:cubicBezTo>
                  <a:pt x="291684" y="88900"/>
                  <a:pt x="342900" y="140116"/>
                  <a:pt x="342900" y="203200"/>
                </a:cubicBezTo>
                <a:cubicBezTo>
                  <a:pt x="342900" y="266284"/>
                  <a:pt x="291684" y="317500"/>
                  <a:pt x="228600" y="317500"/>
                </a:cubicBezTo>
                <a:cubicBezTo>
                  <a:pt x="165516" y="317500"/>
                  <a:pt x="114300" y="266284"/>
                  <a:pt x="114300" y="203200"/>
                </a:cubicBezTo>
                <a:close/>
                <a:moveTo>
                  <a:pt x="228600" y="152400"/>
                </a:moveTo>
                <a:cubicBezTo>
                  <a:pt x="228600" y="180419"/>
                  <a:pt x="205819" y="203200"/>
                  <a:pt x="177800" y="203200"/>
                </a:cubicBezTo>
                <a:cubicBezTo>
                  <a:pt x="168672" y="203200"/>
                  <a:pt x="160099" y="200819"/>
                  <a:pt x="152638" y="196533"/>
                </a:cubicBezTo>
                <a:cubicBezTo>
                  <a:pt x="151844" y="205184"/>
                  <a:pt x="152559" y="214074"/>
                  <a:pt x="154940" y="222885"/>
                </a:cubicBezTo>
                <a:cubicBezTo>
                  <a:pt x="165814" y="263525"/>
                  <a:pt x="207645" y="287655"/>
                  <a:pt x="248285" y="276781"/>
                </a:cubicBezTo>
                <a:cubicBezTo>
                  <a:pt x="288925" y="265906"/>
                  <a:pt x="313055" y="224076"/>
                  <a:pt x="302181" y="183436"/>
                </a:cubicBezTo>
                <a:cubicBezTo>
                  <a:pt x="292497" y="147161"/>
                  <a:pt x="258128" y="124063"/>
                  <a:pt x="221933" y="127238"/>
                </a:cubicBezTo>
                <a:cubicBezTo>
                  <a:pt x="226139" y="134620"/>
                  <a:pt x="228600" y="143193"/>
                  <a:pt x="228600" y="1524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4" name="Text 31"/>
          <p:cNvSpPr/>
          <p:nvPr/>
        </p:nvSpPr>
        <p:spPr>
          <a:xfrm>
            <a:off x="9525000" y="4343400"/>
            <a:ext cx="558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Accessible &amp; Clear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9525000" y="4673600"/>
            <a:ext cx="558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indicators with high contrast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8928100" y="5334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09074" y="-21431"/>
                </a:moveTo>
                <a:lnTo>
                  <a:pt x="220821" y="7779"/>
                </a:lnTo>
                <a:lnTo>
                  <a:pt x="250031" y="19526"/>
                </a:lnTo>
                <a:cubicBezTo>
                  <a:pt x="252413" y="20479"/>
                  <a:pt x="254000" y="22860"/>
                  <a:pt x="254000" y="25400"/>
                </a:cubicBezTo>
                <a:cubicBezTo>
                  <a:pt x="254000" y="27940"/>
                  <a:pt x="252413" y="30321"/>
                  <a:pt x="250031" y="31274"/>
                </a:cubicBezTo>
                <a:lnTo>
                  <a:pt x="220821" y="43021"/>
                </a:lnTo>
                <a:lnTo>
                  <a:pt x="209074" y="72231"/>
                </a:lnTo>
                <a:cubicBezTo>
                  <a:pt x="208121" y="74613"/>
                  <a:pt x="205740" y="76200"/>
                  <a:pt x="203200" y="76200"/>
                </a:cubicBezTo>
                <a:cubicBezTo>
                  <a:pt x="200660" y="76200"/>
                  <a:pt x="198279" y="74613"/>
                  <a:pt x="197326" y="72231"/>
                </a:cubicBezTo>
                <a:lnTo>
                  <a:pt x="185579" y="43021"/>
                </a:lnTo>
                <a:lnTo>
                  <a:pt x="156369" y="31274"/>
                </a:lnTo>
                <a:cubicBezTo>
                  <a:pt x="153988" y="30321"/>
                  <a:pt x="152400" y="27940"/>
                  <a:pt x="152400" y="25400"/>
                </a:cubicBezTo>
                <a:cubicBezTo>
                  <a:pt x="152400" y="22860"/>
                  <a:pt x="153988" y="20479"/>
                  <a:pt x="156369" y="19526"/>
                </a:cubicBezTo>
                <a:lnTo>
                  <a:pt x="185579" y="7779"/>
                </a:lnTo>
                <a:lnTo>
                  <a:pt x="197326" y="-21431"/>
                </a:lnTo>
                <a:cubicBezTo>
                  <a:pt x="198279" y="-23812"/>
                  <a:pt x="200660" y="-25400"/>
                  <a:pt x="203200" y="-25400"/>
                </a:cubicBezTo>
                <a:cubicBezTo>
                  <a:pt x="205740" y="-25400"/>
                  <a:pt x="208121" y="-23812"/>
                  <a:pt x="209074" y="-21431"/>
                </a:cubicBezTo>
                <a:close/>
                <a:moveTo>
                  <a:pt x="87868" y="33099"/>
                </a:moveTo>
                <a:lnTo>
                  <a:pt x="104934" y="72866"/>
                </a:lnTo>
                <a:lnTo>
                  <a:pt x="144701" y="89932"/>
                </a:lnTo>
                <a:cubicBezTo>
                  <a:pt x="149384" y="91916"/>
                  <a:pt x="152400" y="96520"/>
                  <a:pt x="152400" y="101600"/>
                </a:cubicBezTo>
                <a:cubicBezTo>
                  <a:pt x="152400" y="106680"/>
                  <a:pt x="149384" y="111284"/>
                  <a:pt x="144701" y="113268"/>
                </a:cubicBezTo>
                <a:lnTo>
                  <a:pt x="104934" y="130334"/>
                </a:lnTo>
                <a:lnTo>
                  <a:pt x="87868" y="170101"/>
                </a:lnTo>
                <a:cubicBezTo>
                  <a:pt x="85884" y="174784"/>
                  <a:pt x="81280" y="177800"/>
                  <a:pt x="76200" y="177800"/>
                </a:cubicBezTo>
                <a:cubicBezTo>
                  <a:pt x="71120" y="177800"/>
                  <a:pt x="66516" y="174784"/>
                  <a:pt x="64532" y="170101"/>
                </a:cubicBezTo>
                <a:lnTo>
                  <a:pt x="47466" y="130334"/>
                </a:lnTo>
                <a:lnTo>
                  <a:pt x="7699" y="113268"/>
                </a:lnTo>
                <a:cubicBezTo>
                  <a:pt x="3016" y="111284"/>
                  <a:pt x="0" y="106680"/>
                  <a:pt x="0" y="101600"/>
                </a:cubicBezTo>
                <a:cubicBezTo>
                  <a:pt x="0" y="96520"/>
                  <a:pt x="3016" y="91916"/>
                  <a:pt x="7699" y="89932"/>
                </a:cubicBezTo>
                <a:lnTo>
                  <a:pt x="47466" y="72866"/>
                </a:lnTo>
                <a:lnTo>
                  <a:pt x="64532" y="33099"/>
                </a:lnTo>
                <a:cubicBezTo>
                  <a:pt x="66516" y="28416"/>
                  <a:pt x="71120" y="25400"/>
                  <a:pt x="76200" y="25400"/>
                </a:cubicBezTo>
                <a:cubicBezTo>
                  <a:pt x="81280" y="25400"/>
                  <a:pt x="85884" y="28416"/>
                  <a:pt x="87868" y="33099"/>
                </a:cubicBezTo>
                <a:close/>
                <a:moveTo>
                  <a:pt x="368300" y="241300"/>
                </a:moveTo>
                <a:cubicBezTo>
                  <a:pt x="373380" y="241300"/>
                  <a:pt x="377984" y="244316"/>
                  <a:pt x="379968" y="248999"/>
                </a:cubicBezTo>
                <a:lnTo>
                  <a:pt x="397034" y="288766"/>
                </a:lnTo>
                <a:lnTo>
                  <a:pt x="436801" y="305832"/>
                </a:lnTo>
                <a:cubicBezTo>
                  <a:pt x="441484" y="307816"/>
                  <a:pt x="444500" y="312420"/>
                  <a:pt x="444500" y="317500"/>
                </a:cubicBezTo>
                <a:cubicBezTo>
                  <a:pt x="444500" y="322580"/>
                  <a:pt x="441484" y="327184"/>
                  <a:pt x="436801" y="329168"/>
                </a:cubicBezTo>
                <a:lnTo>
                  <a:pt x="397034" y="346234"/>
                </a:lnTo>
                <a:lnTo>
                  <a:pt x="379968" y="386001"/>
                </a:lnTo>
                <a:cubicBezTo>
                  <a:pt x="377984" y="390684"/>
                  <a:pt x="373380" y="393700"/>
                  <a:pt x="368300" y="393700"/>
                </a:cubicBezTo>
                <a:cubicBezTo>
                  <a:pt x="363220" y="393700"/>
                  <a:pt x="358616" y="390684"/>
                  <a:pt x="356632" y="386001"/>
                </a:cubicBezTo>
                <a:lnTo>
                  <a:pt x="339566" y="346234"/>
                </a:lnTo>
                <a:lnTo>
                  <a:pt x="299799" y="329168"/>
                </a:lnTo>
                <a:cubicBezTo>
                  <a:pt x="295116" y="327184"/>
                  <a:pt x="292100" y="322580"/>
                  <a:pt x="292100" y="317500"/>
                </a:cubicBezTo>
                <a:cubicBezTo>
                  <a:pt x="292100" y="312420"/>
                  <a:pt x="295116" y="307816"/>
                  <a:pt x="299799" y="305832"/>
                </a:cubicBezTo>
                <a:lnTo>
                  <a:pt x="339566" y="288766"/>
                </a:lnTo>
                <a:lnTo>
                  <a:pt x="356632" y="248999"/>
                </a:lnTo>
                <a:cubicBezTo>
                  <a:pt x="358616" y="244316"/>
                  <a:pt x="363220" y="241300"/>
                  <a:pt x="368300" y="241300"/>
                </a:cubicBezTo>
                <a:close/>
                <a:moveTo>
                  <a:pt x="365125" y="0"/>
                </a:moveTo>
                <a:cubicBezTo>
                  <a:pt x="373856" y="0"/>
                  <a:pt x="382270" y="3493"/>
                  <a:pt x="388541" y="9684"/>
                </a:cubicBezTo>
                <a:lnTo>
                  <a:pt x="422116" y="43259"/>
                </a:lnTo>
                <a:cubicBezTo>
                  <a:pt x="428308" y="49530"/>
                  <a:pt x="431800" y="57944"/>
                  <a:pt x="431800" y="66675"/>
                </a:cubicBezTo>
                <a:cubicBezTo>
                  <a:pt x="431800" y="75406"/>
                  <a:pt x="428308" y="83820"/>
                  <a:pt x="422116" y="90091"/>
                </a:cubicBezTo>
                <a:lnTo>
                  <a:pt x="352107" y="160099"/>
                </a:lnTo>
                <a:lnTo>
                  <a:pt x="271701" y="79693"/>
                </a:lnTo>
                <a:lnTo>
                  <a:pt x="341709" y="9684"/>
                </a:lnTo>
                <a:cubicBezTo>
                  <a:pt x="347980" y="3493"/>
                  <a:pt x="356394" y="0"/>
                  <a:pt x="365125" y="0"/>
                </a:cubicBezTo>
                <a:close/>
                <a:moveTo>
                  <a:pt x="35084" y="316309"/>
                </a:moveTo>
                <a:lnTo>
                  <a:pt x="244793" y="106601"/>
                </a:lnTo>
                <a:lnTo>
                  <a:pt x="325199" y="187008"/>
                </a:lnTo>
                <a:lnTo>
                  <a:pt x="115491" y="396716"/>
                </a:lnTo>
                <a:cubicBezTo>
                  <a:pt x="109220" y="402908"/>
                  <a:pt x="100806" y="406400"/>
                  <a:pt x="92075" y="406400"/>
                </a:cubicBezTo>
                <a:cubicBezTo>
                  <a:pt x="83344" y="406400"/>
                  <a:pt x="74930" y="402908"/>
                  <a:pt x="68659" y="396716"/>
                </a:cubicBezTo>
                <a:lnTo>
                  <a:pt x="35084" y="363141"/>
                </a:lnTo>
                <a:cubicBezTo>
                  <a:pt x="28893" y="356870"/>
                  <a:pt x="25400" y="348456"/>
                  <a:pt x="25400" y="339725"/>
                </a:cubicBezTo>
                <a:cubicBezTo>
                  <a:pt x="25400" y="330994"/>
                  <a:pt x="28893" y="322580"/>
                  <a:pt x="35084" y="31630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7" name="Text 34"/>
          <p:cNvSpPr/>
          <p:nvPr/>
        </p:nvSpPr>
        <p:spPr>
          <a:xfrm>
            <a:off x="9525000" y="5295900"/>
            <a:ext cx="558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Intuitive Interface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9525000" y="5626100"/>
            <a:ext cx="558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Self-explanatory with example buttons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90000" y="6350000"/>
            <a:ext cx="622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Color Scheme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9398000" y="6794500"/>
            <a:ext cx="1270000" cy="50800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/>
        </p:spPr>
      </p:sp>
      <p:sp>
        <p:nvSpPr>
          <p:cNvPr id="41" name="Text 38"/>
          <p:cNvSpPr/>
          <p:nvPr/>
        </p:nvSpPr>
        <p:spPr>
          <a:xfrm>
            <a:off x="9398000" y="67945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10922000" y="6794500"/>
            <a:ext cx="1270000" cy="50800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10922000" y="67945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TOXIC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12446000" y="6794500"/>
            <a:ext cx="1270000" cy="50800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/>
        </p:spPr>
      </p:sp>
      <p:sp>
        <p:nvSpPr>
          <p:cNvPr id="45" name="Text 42"/>
          <p:cNvSpPr/>
          <p:nvPr/>
        </p:nvSpPr>
        <p:spPr>
          <a:xfrm>
            <a:off x="12446000" y="67945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Accent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8890000" y="7429500"/>
            <a:ext cx="622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#4CAF50 | #F44336 | #667eea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Green=Safe Red=Toxic Purple=Primary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dxv4hoehigcay/mnt/agents/output/toxic-comment-detector/images/7_Abstract_technology_background_futuristic.png">    </p:cNvPr>
          <p:cNvPicPr>
            <a:picLocks noChangeAspect="1"/>
          </p:cNvPicPr>
          <p:nvPr/>
        </p:nvPicPr>
        <p:blipFill>
          <a:blip r:embed="rId1"/>
          <a:srcRect l="160" r="16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4C5C">
                  <a:alpha val="95000"/>
                </a:srgbClr>
              </a:gs>
              <a:gs pos="55000">
                <a:srgbClr val="0F4C5C">
                  <a:alpha val="88000"/>
                </a:srgbClr>
              </a:gs>
              <a:gs pos="100000">
                <a:srgbClr val="0F4C5C">
                  <a:alpha val="6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286000"/>
            <a:ext cx="381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FFFFFF">
                    <a:alpha val="12549"/>
                  </a:srgbClr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16000" y="4064000"/>
            <a:ext cx="101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43815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5143500"/>
            <a:ext cx="698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outcomes and future directions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&amp;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&amp; Methodology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589000" y="469900"/>
            <a:ext cx="127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 &amp; Future Improvements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62000" y="13081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524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2006600"/>
            <a:ext cx="3556000" cy="1270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6000" y="215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11150" y="177800"/>
                </a:moveTo>
                <a:cubicBezTo>
                  <a:pt x="311150" y="104202"/>
                  <a:pt x="251398" y="44450"/>
                  <a:pt x="177800" y="44450"/>
                </a:cubicBezTo>
                <a:cubicBezTo>
                  <a:pt x="104202" y="44450"/>
                  <a:pt x="44450" y="104202"/>
                  <a:pt x="44450" y="177800"/>
                </a:cubicBezTo>
                <a:cubicBezTo>
                  <a:pt x="44450" y="251398"/>
                  <a:pt x="104202" y="311150"/>
                  <a:pt x="177800" y="311150"/>
                </a:cubicBezTo>
                <a:cubicBezTo>
                  <a:pt x="251398" y="311150"/>
                  <a:pt x="311150" y="251398"/>
                  <a:pt x="311150" y="177800"/>
                </a:cubicBez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177800" y="233363"/>
                </a:moveTo>
                <a:cubicBezTo>
                  <a:pt x="208466" y="233363"/>
                  <a:pt x="233363" y="208466"/>
                  <a:pt x="233363" y="177800"/>
                </a:cubicBezTo>
                <a:cubicBezTo>
                  <a:pt x="233363" y="147134"/>
                  <a:pt x="208466" y="122238"/>
                  <a:pt x="177800" y="122238"/>
                </a:cubicBezTo>
                <a:cubicBezTo>
                  <a:pt x="147134" y="122238"/>
                  <a:pt x="122238" y="147134"/>
                  <a:pt x="122238" y="177800"/>
                </a:cubicBezTo>
                <a:cubicBezTo>
                  <a:pt x="122238" y="208466"/>
                  <a:pt x="147134" y="233363"/>
                  <a:pt x="177800" y="233363"/>
                </a:cubicBezTo>
                <a:close/>
                <a:moveTo>
                  <a:pt x="177800" y="77788"/>
                </a:moveTo>
                <a:cubicBezTo>
                  <a:pt x="232998" y="77788"/>
                  <a:pt x="277813" y="122602"/>
                  <a:pt x="277813" y="177800"/>
                </a:cubicBezTo>
                <a:cubicBezTo>
                  <a:pt x="277813" y="232998"/>
                  <a:pt x="232998" y="277813"/>
                  <a:pt x="177800" y="277813"/>
                </a:cubicBezTo>
                <a:cubicBezTo>
                  <a:pt x="122602" y="277813"/>
                  <a:pt x="77788" y="232998"/>
                  <a:pt x="77788" y="177800"/>
                </a:cubicBezTo>
                <a:cubicBezTo>
                  <a:pt x="77788" y="122602"/>
                  <a:pt x="122602" y="77788"/>
                  <a:pt x="177800" y="77788"/>
                </a:cubicBezTo>
                <a:close/>
                <a:moveTo>
                  <a:pt x="155575" y="177800"/>
                </a:moveTo>
                <a:cubicBezTo>
                  <a:pt x="155575" y="165534"/>
                  <a:pt x="165534" y="155575"/>
                  <a:pt x="177800" y="155575"/>
                </a:cubicBezTo>
                <a:cubicBezTo>
                  <a:pt x="190066" y="155575"/>
                  <a:pt x="200025" y="165534"/>
                  <a:pt x="200025" y="177800"/>
                </a:cubicBezTo>
                <a:cubicBezTo>
                  <a:pt x="200025" y="190066"/>
                  <a:pt x="190066" y="200025"/>
                  <a:pt x="177800" y="200025"/>
                </a:cubicBezTo>
                <a:cubicBezTo>
                  <a:pt x="165534" y="200025"/>
                  <a:pt x="155575" y="190066"/>
                  <a:pt x="155575" y="1778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1460500" y="2159000"/>
            <a:ext cx="266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Accuracy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2603500"/>
            <a:ext cx="3111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98%+ detection accuracy on test data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08500" y="2006600"/>
            <a:ext cx="3556000" cy="1270000"/>
          </a:xfrm>
          <a:prstGeom prst="roundRect">
            <a:avLst>
              <a:gd name="adj" fmla="val 8000"/>
            </a:avLst>
          </a:prstGeom>
          <a:solidFill>
            <a:srgbClr val="1A5F70"/>
          </a:solidFill>
          <a:ln/>
        </p:spPr>
      </p:sp>
      <p:sp>
        <p:nvSpPr>
          <p:cNvPr id="16" name="Shape 14"/>
          <p:cNvSpPr/>
          <p:nvPr/>
        </p:nvSpPr>
        <p:spPr>
          <a:xfrm>
            <a:off x="4784725" y="2159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5207000" y="2159000"/>
            <a:ext cx="266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Speed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62500" y="2603500"/>
            <a:ext cx="3111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GPU-accelerated instant inference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3467100"/>
            <a:ext cx="3556000" cy="1270000"/>
          </a:xfrm>
          <a:prstGeom prst="roundRect">
            <a:avLst>
              <a:gd name="adj" fmla="val 8000"/>
            </a:avLst>
          </a:prstGeom>
          <a:solidFill>
            <a:srgbClr val="257485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6000" y="361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44475"/>
                </a:lnTo>
                <a:cubicBezTo>
                  <a:pt x="0" y="268992"/>
                  <a:pt x="19933" y="288925"/>
                  <a:pt x="44450" y="288925"/>
                </a:cubicBezTo>
                <a:lnTo>
                  <a:pt x="144463" y="288925"/>
                </a:lnTo>
                <a:lnTo>
                  <a:pt x="133350" y="322263"/>
                </a:lnTo>
                <a:lnTo>
                  <a:pt x="83344" y="322263"/>
                </a:lnTo>
                <a:cubicBezTo>
                  <a:pt x="74106" y="322263"/>
                  <a:pt x="66675" y="329694"/>
                  <a:pt x="66675" y="338931"/>
                </a:cubicBezTo>
                <a:cubicBezTo>
                  <a:pt x="66675" y="348169"/>
                  <a:pt x="74106" y="355600"/>
                  <a:pt x="83344" y="355600"/>
                </a:cubicBezTo>
                <a:lnTo>
                  <a:pt x="272256" y="355600"/>
                </a:lnTo>
                <a:cubicBezTo>
                  <a:pt x="281494" y="355600"/>
                  <a:pt x="288925" y="348169"/>
                  <a:pt x="288925" y="338931"/>
                </a:cubicBezTo>
                <a:cubicBezTo>
                  <a:pt x="288925" y="329694"/>
                  <a:pt x="281494" y="322263"/>
                  <a:pt x="272256" y="322263"/>
                </a:cubicBezTo>
                <a:lnTo>
                  <a:pt x="222250" y="322263"/>
                </a:lnTo>
                <a:lnTo>
                  <a:pt x="211138" y="288925"/>
                </a:lnTo>
                <a:lnTo>
                  <a:pt x="311150" y="288925"/>
                </a:lnTo>
                <a:cubicBezTo>
                  <a:pt x="335667" y="288925"/>
                  <a:pt x="355600" y="268992"/>
                  <a:pt x="355600" y="244475"/>
                </a:cubicBezTo>
                <a:lnTo>
                  <a:pt x="355600" y="66675"/>
                </a:lnTo>
                <a:cubicBezTo>
                  <a:pt x="355600" y="42158"/>
                  <a:pt x="335667" y="22225"/>
                  <a:pt x="311150" y="22225"/>
                </a:cubicBezTo>
                <a:lnTo>
                  <a:pt x="44450" y="22225"/>
                </a:lnTo>
                <a:close/>
                <a:moveTo>
                  <a:pt x="66675" y="66675"/>
                </a:moveTo>
                <a:lnTo>
                  <a:pt x="288925" y="66675"/>
                </a:lnTo>
                <a:cubicBezTo>
                  <a:pt x="301218" y="66675"/>
                  <a:pt x="311150" y="76607"/>
                  <a:pt x="311150" y="88900"/>
                </a:cubicBezTo>
                <a:lnTo>
                  <a:pt x="311150" y="200025"/>
                </a:lnTo>
                <a:cubicBezTo>
                  <a:pt x="311150" y="212318"/>
                  <a:pt x="301218" y="222250"/>
                  <a:pt x="288925" y="222250"/>
                </a:cubicBezTo>
                <a:lnTo>
                  <a:pt x="66675" y="222250"/>
                </a:lnTo>
                <a:cubicBezTo>
                  <a:pt x="54382" y="222250"/>
                  <a:pt x="44450" y="212318"/>
                  <a:pt x="44450" y="200025"/>
                </a:cubicBezTo>
                <a:lnTo>
                  <a:pt x="44450" y="88900"/>
                </a:lnTo>
                <a:cubicBezTo>
                  <a:pt x="44450" y="76607"/>
                  <a:pt x="54382" y="66675"/>
                  <a:pt x="66675" y="66675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1460500" y="3619500"/>
            <a:ext cx="266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Full-Stack System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16000" y="4064000"/>
            <a:ext cx="3111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API + web interface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08500" y="3467100"/>
            <a:ext cx="3556000" cy="12700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24" name="Shape 22"/>
          <p:cNvSpPr/>
          <p:nvPr/>
        </p:nvSpPr>
        <p:spPr>
          <a:xfrm>
            <a:off x="4762500" y="361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207000" y="3619500"/>
            <a:ext cx="266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Dashboard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762500" y="4064000"/>
            <a:ext cx="3111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monitoring &amp; statistics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00" y="50165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Roadmap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5486400"/>
            <a:ext cx="2413000" cy="2921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889000" y="5613400"/>
            <a:ext cx="215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Short-Term (3mo)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89000" y="5994400"/>
            <a:ext cx="215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Multi-language support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reputation system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PDF/CSV export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Email alerts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327400" y="5486400"/>
            <a:ext cx="2413000" cy="2921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32" name="Text 30"/>
          <p:cNvSpPr/>
          <p:nvPr/>
        </p:nvSpPr>
        <p:spPr>
          <a:xfrm>
            <a:off x="3454400" y="5613400"/>
            <a:ext cx="215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Mid-Term (6mo)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454400" y="5994400"/>
            <a:ext cx="215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WebSocket streaming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apps (iOS/Android)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Browser extensions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Discord/Slack bots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92800" y="5486400"/>
            <a:ext cx="2413000" cy="2921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35" name="Text 33"/>
          <p:cNvSpPr/>
          <p:nvPr/>
        </p:nvSpPr>
        <p:spPr>
          <a:xfrm>
            <a:off x="6019800" y="5613400"/>
            <a:ext cx="215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Long-Term (1yr)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019800" y="5994400"/>
            <a:ext cx="215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model training UI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Active learning loop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Explainable AI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Multimodal detection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763000" y="1524000"/>
            <a:ext cx="6731000" cy="6921500"/>
          </a:xfrm>
          <a:prstGeom prst="roundRect">
            <a:avLst>
              <a:gd name="adj" fmla="val 6000"/>
            </a:avLst>
          </a:prstGeom>
          <a:solidFill>
            <a:srgbClr val="0F4C5C"/>
          </a:solidFill>
          <a:ln/>
        </p:spPr>
      </p:sp>
      <p:sp>
        <p:nvSpPr>
          <p:cNvPr id="38" name="Shape 36"/>
          <p:cNvSpPr/>
          <p:nvPr/>
        </p:nvSpPr>
        <p:spPr>
          <a:xfrm>
            <a:off x="11731625" y="2032000"/>
            <a:ext cx="666750" cy="762000"/>
          </a:xfrm>
          <a:custGeom>
            <a:avLst/>
            <a:gdLst/>
            <a:ahLst/>
            <a:cxnLst/>
            <a:rect l="l" t="t" r="r" b="b"/>
            <a:pathLst>
              <a:path w="666750" h="762000">
                <a:moveTo>
                  <a:pt x="0" y="321469"/>
                </a:moveTo>
                <a:cubicBezTo>
                  <a:pt x="0" y="222796"/>
                  <a:pt x="79921" y="142875"/>
                  <a:pt x="178594" y="142875"/>
                </a:cubicBezTo>
                <a:lnTo>
                  <a:pt x="190500" y="142875"/>
                </a:lnTo>
                <a:cubicBezTo>
                  <a:pt x="216843" y="142875"/>
                  <a:pt x="238125" y="164157"/>
                  <a:pt x="238125" y="190500"/>
                </a:cubicBezTo>
                <a:cubicBezTo>
                  <a:pt x="238125" y="216843"/>
                  <a:pt x="216843" y="238125"/>
                  <a:pt x="190500" y="238125"/>
                </a:cubicBezTo>
                <a:lnTo>
                  <a:pt x="178594" y="238125"/>
                </a:lnTo>
                <a:cubicBezTo>
                  <a:pt x="132606" y="238125"/>
                  <a:pt x="95250" y="275481"/>
                  <a:pt x="95250" y="321469"/>
                </a:cubicBezTo>
                <a:lnTo>
                  <a:pt x="95250" y="333375"/>
                </a:lnTo>
                <a:lnTo>
                  <a:pt x="190500" y="333375"/>
                </a:lnTo>
                <a:cubicBezTo>
                  <a:pt x="243036" y="333375"/>
                  <a:pt x="285750" y="376089"/>
                  <a:pt x="285750" y="428625"/>
                </a:cubicBezTo>
                <a:lnTo>
                  <a:pt x="285750" y="523875"/>
                </a:lnTo>
                <a:cubicBezTo>
                  <a:pt x="285750" y="576411"/>
                  <a:pt x="243036" y="619125"/>
                  <a:pt x="190500" y="619125"/>
                </a:cubicBezTo>
                <a:lnTo>
                  <a:pt x="95250" y="619125"/>
                </a:lnTo>
                <a:cubicBezTo>
                  <a:pt x="42714" y="619125"/>
                  <a:pt x="0" y="576411"/>
                  <a:pt x="0" y="523875"/>
                </a:cubicBezTo>
                <a:lnTo>
                  <a:pt x="0" y="321469"/>
                </a:lnTo>
                <a:close/>
                <a:moveTo>
                  <a:pt x="381000" y="321469"/>
                </a:moveTo>
                <a:cubicBezTo>
                  <a:pt x="381000" y="222796"/>
                  <a:pt x="460921" y="142875"/>
                  <a:pt x="559594" y="142875"/>
                </a:cubicBezTo>
                <a:lnTo>
                  <a:pt x="571500" y="142875"/>
                </a:lnTo>
                <a:cubicBezTo>
                  <a:pt x="597843" y="142875"/>
                  <a:pt x="619125" y="164157"/>
                  <a:pt x="619125" y="190500"/>
                </a:cubicBezTo>
                <a:cubicBezTo>
                  <a:pt x="619125" y="216843"/>
                  <a:pt x="597843" y="238125"/>
                  <a:pt x="571500" y="238125"/>
                </a:cubicBezTo>
                <a:lnTo>
                  <a:pt x="559594" y="238125"/>
                </a:lnTo>
                <a:cubicBezTo>
                  <a:pt x="513606" y="238125"/>
                  <a:pt x="476250" y="275481"/>
                  <a:pt x="476250" y="321469"/>
                </a:cubicBezTo>
                <a:lnTo>
                  <a:pt x="476250" y="333375"/>
                </a:lnTo>
                <a:lnTo>
                  <a:pt x="571500" y="333375"/>
                </a:lnTo>
                <a:cubicBezTo>
                  <a:pt x="624036" y="333375"/>
                  <a:pt x="666750" y="376089"/>
                  <a:pt x="666750" y="428625"/>
                </a:cubicBezTo>
                <a:lnTo>
                  <a:pt x="666750" y="523875"/>
                </a:lnTo>
                <a:cubicBezTo>
                  <a:pt x="666750" y="576411"/>
                  <a:pt x="624036" y="619125"/>
                  <a:pt x="571500" y="619125"/>
                </a:cubicBezTo>
                <a:lnTo>
                  <a:pt x="476250" y="619125"/>
                </a:lnTo>
                <a:cubicBezTo>
                  <a:pt x="423714" y="619125"/>
                  <a:pt x="381000" y="576411"/>
                  <a:pt x="381000" y="523875"/>
                </a:cubicBezTo>
                <a:lnTo>
                  <a:pt x="381000" y="321469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9271000" y="3175000"/>
            <a:ext cx="5715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0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"This project demonstrates that BERT-based models can be effectively deployed for practical content moderation, offering a </a:t>
            </a:r>
            <a:pPr algn="ctr">
              <a:lnSpc>
                <a:spcPct val="160000"/>
              </a:lnSpc>
            </a:pPr>
            <a:r>
              <a:rPr lang="en-US" sz="2000" b="1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solution</a:t>
            </a:r>
            <a:pPr algn="ctr">
              <a:lnSpc>
                <a:spcPct val="160000"/>
              </a:lnSpc>
            </a:pPr>
            <a:r>
              <a:rPr lang="en-US" sz="20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the growing challenge of online toxic content."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1176000" y="5969000"/>
            <a:ext cx="1905000" cy="25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1" name="Text 39"/>
          <p:cNvSpPr/>
          <p:nvPr/>
        </p:nvSpPr>
        <p:spPr>
          <a:xfrm>
            <a:off x="9271000" y="6223000"/>
            <a:ext cx="5715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5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Impact</a:t>
            </a:r>
            <a:endParaRPr lang="en-US" sz="1600" dirty="0"/>
          </a:p>
          <a:p>
            <a:pPr algn="ctr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Significant reduction in manual review effort with 24/7 automated moderation capability and high reliability.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dxv4hoehigcay/mnt/agents/output/toxic-comment-detector/images/1_Abstract_Neural_Network_Glowing_Connections.png">    </p:cNvPr>
          <p:cNvPicPr>
            <a:picLocks noChangeAspect="1"/>
          </p:cNvPicPr>
          <p:nvPr/>
        </p:nvPicPr>
        <p:blipFill>
          <a:blip r:embed="rId1"/>
          <a:srcRect l="0" r="0" t="7786" b="7786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4C5C">
                  <a:alpha val="90000"/>
                </a:srgbClr>
              </a:gs>
              <a:gs pos="50000">
                <a:srgbClr val="0F4C5C">
                  <a:alpha val="80000"/>
                </a:srgbClr>
              </a:gs>
              <a:gs pos="100000">
                <a:srgbClr val="0F4C5C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318000" y="2286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spc="4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NLP COURSE PROJECT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858000" y="2794000"/>
            <a:ext cx="2540000" cy="25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3"/>
          <p:cNvSpPr/>
          <p:nvPr/>
        </p:nvSpPr>
        <p:spPr>
          <a:xfrm>
            <a:off x="3048000" y="31115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048000" y="41275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NLP-based content moderation is feasible and effective,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offering a scalable solution to online toxic content.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0" y="5334000"/>
            <a:ext cx="2540000" cy="25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6"/>
          <p:cNvSpPr/>
          <p:nvPr/>
        </p:nvSpPr>
        <p:spPr>
          <a:xfrm>
            <a:off x="3683000" y="56515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5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Sanaullah · Fasil Nawaz · Kh Toseeq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5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Instructor: Sir Muhammad Farhan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588000" y="69850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spc="2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NLP-Based Toxic Comment Detector</dc:title>
  <dc:subject>NLP-Based Toxic Comment Detector</dc:subject>
  <dc:creator>Kimi</dc:creator>
  <cp:lastModifiedBy>Kimi</cp:lastModifiedBy>
  <cp:revision>1</cp:revision>
  <dcterms:created xsi:type="dcterms:W3CDTF">2026-05-11T17:21:26Z</dcterms:created>
  <dcterms:modified xsi:type="dcterms:W3CDTF">2026-05-11T17:21:26Z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{"Label":"NLP-Based Toxic Comment Detector","ContentProducer":"001191110108MACG2KBH8F10000","ProduceID":"19e180dc-5ad2-8834-8000-00005061a2da","ReservedCode1":"","ContentPropagator":"001191110108MACG2KBH8F20000","PropagateID":"19e180dc-5ad2-8834-8000-00005061a2da","ReservedCode2":""}</vt:lpwstr>
  </property>
</Properties>
</file>